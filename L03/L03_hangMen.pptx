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75" r:id="rId5"/>
    <p:sldId id="261" r:id="rId6"/>
    <p:sldId id="276" r:id="rId7"/>
    <p:sldId id="265" r:id="rId8"/>
    <p:sldId id="277" r:id="rId9"/>
    <p:sldId id="278" r:id="rId10"/>
    <p:sldId id="279" r:id="rId11"/>
    <p:sldId id="280" r:id="rId12"/>
    <p:sldId id="281" r:id="rId13"/>
    <p:sldId id="282" r:id="rId14"/>
    <p:sldId id="283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996"/>
    <a:srgbClr val="08DB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40"/>
    <p:restoredTop sz="94610"/>
  </p:normalViewPr>
  <p:slideViewPr>
    <p:cSldViewPr snapToGrid="0" snapToObjects="1">
      <p:cViewPr>
        <p:scale>
          <a:sx n="112" d="100"/>
          <a:sy n="112" d="100"/>
        </p:scale>
        <p:origin x="488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726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A743C-1E8B-B258-0C5E-DEB844E1B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929C7-1AB6-BCB6-D631-8CC31EAC6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E33F8C-8B52-5BFB-1995-CC3D62459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67EEB-9F88-4586-611B-AE4A297851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149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2533F-B8CA-127E-E799-9E8E2C0B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1061B-D216-1507-61FD-56FAADC8C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A6542-2E0F-243A-1D42-52FFA3F90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AC635-201D-2BD3-334D-D517A2C1EE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45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F89D1-E6D9-0257-97B0-B4CD86FC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0A639-F3CD-4921-3CDE-7CB62D9F6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CA7C9D-15D7-1D2D-595A-7218D99C6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B359C-954B-8EC6-40D8-5EF8C59EDD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97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19760-A411-E3FD-23F0-B45ED4926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41EB2-0B0F-BFAE-08F4-46B9973FC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A57D3-BDF6-7354-B275-67D934E59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2F900-CB2F-B2F3-7C15-8F916C162C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7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66036-9A4B-616D-F107-9960501E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C1D55-BF33-91EC-A426-C043963BA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639B7-8BF2-7DC7-1783-8FA7D67CA5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D1CA5-5BBE-FFB5-4B6E-36F24B6639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081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7D242-A194-DEEB-0357-68D54628C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F26EC-5C92-2425-8F84-E1F15DDD9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7EEA0-9743-9629-FA69-03BCECBD7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F7CAB-3926-5E9F-7219-B2F1BCDCEB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16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F1744-0F2B-C44D-F2E7-37E3B9ECB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CCD4CA-C0CF-A7D1-5146-CAD537B300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FC940-F136-1D00-B8CE-08F98879A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38E7F-6B39-F475-27ED-C74996506B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859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5F378-6234-E81F-5508-357D41221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A32085-FCB7-C8A7-F2EF-3B32DE3B42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155D8-5795-A63E-1442-AD663074F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37CA6-D69F-CB5A-C2C8-37CB8030D8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459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8CC08-D88B-935D-14F2-14DE7B9F0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05970-2500-82D6-2CAB-D44CDD637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4C311-84C5-F6F9-6E5D-434857E17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BC4C7-B3D9-0F95-A16C-891C82C1E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80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0C2A8">
              <a:alpha val="10000"/>
            </a:srgbClr>
          </a:solidFill>
          <a:ln w="12700">
            <a:solidFill>
              <a:srgbClr val="00C2A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874519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Hangman Game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502920" y="3337560"/>
            <a:ext cx="3657600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640080" y="3200400"/>
            <a:ext cx="2286000" cy="22860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11455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Rules of the Game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97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2976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914400"/>
            <a:ext cx="4160520" cy="347472"/>
          </a:xfrm>
          <a:prstGeom prst="rect">
            <a:avLst/>
          </a:prstGeom>
          <a:solidFill>
            <a:srgbClr val="1A2F54"/>
          </a:solidFill>
          <a:ln w="12700">
            <a:solidFill>
              <a:srgbClr val="1A2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93268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4E25D1-7C5C-BACF-FFE5-88944BD8DB16}"/>
              </a:ext>
            </a:extLst>
          </p:cNvPr>
          <p:cNvSpPr txBox="1"/>
          <p:nvPr/>
        </p:nvSpPr>
        <p:spPr>
          <a:xfrm>
            <a:off x="338328" y="1408176"/>
            <a:ext cx="3955517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The Objective: Guess the hidden word, letter by letter, before the drawing of the hangman is complete.</a:t>
            </a:r>
          </a:p>
          <a:p>
            <a:endParaRPr lang="en-US" sz="1300" dirty="0"/>
          </a:p>
          <a:p>
            <a:r>
              <a:rPr lang="en-US" sz="1300" dirty="0"/>
              <a:t>The Secret Word: The computer randomly selects a word and displays it as a row of blanks (_ _ _ _ _), with each blank representing a letter</a:t>
            </a:r>
          </a:p>
          <a:p>
            <a:endParaRPr lang="en-US" sz="1300" dirty="0"/>
          </a:p>
          <a:p>
            <a:r>
              <a:rPr lang="en-US" sz="1300" dirty="0"/>
              <a:t>Guessing:</a:t>
            </a:r>
          </a:p>
          <a:p>
            <a:pPr marL="285750" indent="-285750">
              <a:buFontTx/>
              <a:buChar char="-"/>
            </a:pPr>
            <a:r>
              <a:rPr lang="en-US" sz="1300" dirty="0"/>
              <a:t>You guess one letter at a time</a:t>
            </a:r>
          </a:p>
          <a:p>
            <a:pPr marL="285750" indent="-285750">
              <a:buFontTx/>
              <a:buChar char="-"/>
            </a:pPr>
            <a:r>
              <a:rPr lang="en-US" sz="1300" dirty="0"/>
              <a:t>If the letter is in the word, the blanks are filled in with that letter</a:t>
            </a:r>
          </a:p>
          <a:p>
            <a:pPr marL="285750" indent="-285750">
              <a:buFontTx/>
              <a:buChar char="-"/>
            </a:pPr>
            <a:r>
              <a:rPr lang="en-US" sz="1300" dirty="0"/>
              <a:t>If the letter is not in the word, you lose a life, and one part of the hangman stick-figure is drawn</a:t>
            </a:r>
          </a:p>
          <a:p>
            <a:pPr marL="285750" indent="-285750">
              <a:buFontTx/>
              <a:buChar char="-"/>
            </a:pPr>
            <a:r>
              <a:rPr lang="en-US" sz="1300" dirty="0"/>
              <a:t>If guess a word we guessed before, print You already guessed it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A5B8D0-D25A-6EDF-8A79-08532C99A6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14" r="10416"/>
          <a:stretch>
            <a:fillRect/>
          </a:stretch>
        </p:blipFill>
        <p:spPr>
          <a:xfrm>
            <a:off x="5174258" y="1472599"/>
            <a:ext cx="1397876" cy="14347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775920-23F4-9B81-CE55-DF038CC946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440"/>
          <a:stretch>
            <a:fillRect/>
          </a:stretch>
        </p:blipFill>
        <p:spPr>
          <a:xfrm>
            <a:off x="6991512" y="1472599"/>
            <a:ext cx="1424453" cy="14347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2D4991-8064-358F-2560-2ED0278DFE4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512"/>
          <a:stretch>
            <a:fillRect/>
          </a:stretch>
        </p:blipFill>
        <p:spPr>
          <a:xfrm>
            <a:off x="5174258" y="3077688"/>
            <a:ext cx="1424453" cy="14439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42C173-2E9B-F2FB-3C18-B969142E0C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9333" y="3118103"/>
            <a:ext cx="1424453" cy="14035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3FEC8B-21FE-8017-FEBF-6262ACA52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3F1E10-E515-91BE-BCB3-90EC84A202D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967E4A-C19F-4CDD-65AB-8228CA789ABE}"/>
              </a:ext>
            </a:extLst>
          </p:cNvPr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07432DC-68D7-A379-F333-D920A1F6FA45}"/>
              </a:ext>
            </a:extLst>
          </p:cNvPr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Rules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2DC389E-7734-0E2A-945E-743780B4369F}"/>
              </a:ext>
            </a:extLst>
          </p:cNvPr>
          <p:cNvSpPr/>
          <p:nvPr/>
        </p:nvSpPr>
        <p:spPr>
          <a:xfrm>
            <a:off x="228600" y="914400"/>
            <a:ext cx="4297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CEE0ED4-DFDD-9473-DA9D-12C488689D12}"/>
              </a:ext>
            </a:extLst>
          </p:cNvPr>
          <p:cNvSpPr/>
          <p:nvPr/>
        </p:nvSpPr>
        <p:spPr>
          <a:xfrm>
            <a:off x="228600" y="914400"/>
            <a:ext cx="42976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DD78939-08AB-628E-7CCE-A7F3E77CA247}"/>
              </a:ext>
            </a:extLst>
          </p:cNvPr>
          <p:cNvSpPr/>
          <p:nvPr/>
        </p:nvSpPr>
        <p:spPr>
          <a:xfrm>
            <a:off x="338328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7D9687B-552B-3202-1F75-E8EB1BCBEEA5}"/>
              </a:ext>
            </a:extLst>
          </p:cNvPr>
          <p:cNvSpPr/>
          <p:nvPr/>
        </p:nvSpPr>
        <p:spPr>
          <a:xfrm>
            <a:off x="4754880" y="91440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1F088E5-409F-B69A-37C1-AC1DC1121747}"/>
              </a:ext>
            </a:extLst>
          </p:cNvPr>
          <p:cNvSpPr/>
          <p:nvPr/>
        </p:nvSpPr>
        <p:spPr>
          <a:xfrm>
            <a:off x="4754880" y="914400"/>
            <a:ext cx="4160520" cy="347472"/>
          </a:xfrm>
          <a:prstGeom prst="rect">
            <a:avLst/>
          </a:prstGeom>
          <a:solidFill>
            <a:srgbClr val="1A2F54"/>
          </a:solidFill>
          <a:ln w="12700">
            <a:solidFill>
              <a:srgbClr val="1A2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C09C217-ECA8-5987-6AF5-45045105F8FB}"/>
              </a:ext>
            </a:extLst>
          </p:cNvPr>
          <p:cNvSpPr/>
          <p:nvPr/>
        </p:nvSpPr>
        <p:spPr>
          <a:xfrm>
            <a:off x="4864608" y="93268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B48B9E-6CD0-7192-08AC-F363A1E6307E}"/>
              </a:ext>
            </a:extLst>
          </p:cNvPr>
          <p:cNvSpPr txBox="1"/>
          <p:nvPr/>
        </p:nvSpPr>
        <p:spPr>
          <a:xfrm>
            <a:off x="342164" y="1456110"/>
            <a:ext cx="39555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Winning: You win if you guess all the correct letters and reveal the full word before running out of turns</a:t>
            </a:r>
          </a:p>
          <a:p>
            <a:endParaRPr lang="en-US" sz="1400" dirty="0"/>
          </a:p>
          <a:p>
            <a:r>
              <a:rPr lang="en-US" sz="1400" dirty="0"/>
              <a:t>Losing: You lose if you make 6 incorrect guesses. At that point, the hangman is fully drawn and the game is over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BD6BBA-786E-3DDC-6EAD-31E6F8B31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187" y="1417320"/>
            <a:ext cx="3555607" cy="12760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7D8D0DA-8DA9-C7EC-E0D1-81DCE1CC6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754" y="2848772"/>
            <a:ext cx="2744472" cy="156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532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640080" y="3200400"/>
            <a:ext cx="2286000" cy="22860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11455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Game Coding Structure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C191E-86B6-E0F4-8164-865688C7B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30D711-5466-8F10-6B65-1ED4FC3ECA84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E1C70D0-BDC1-7F83-00C7-A51B19A06BBB}"/>
              </a:ext>
            </a:extLst>
          </p:cNvPr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949DEC-445C-67F8-D1D7-6B3BD4E9A241}"/>
              </a:ext>
            </a:extLst>
          </p:cNvPr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Structure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327A3E0-6F30-4749-87AC-852A6A6DB1BC}"/>
              </a:ext>
            </a:extLst>
          </p:cNvPr>
          <p:cNvSpPr/>
          <p:nvPr/>
        </p:nvSpPr>
        <p:spPr>
          <a:xfrm>
            <a:off x="228600" y="914400"/>
            <a:ext cx="2082338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93822FF-B37C-FC10-3E99-83565D2308D8}"/>
              </a:ext>
            </a:extLst>
          </p:cNvPr>
          <p:cNvSpPr/>
          <p:nvPr/>
        </p:nvSpPr>
        <p:spPr>
          <a:xfrm>
            <a:off x="228600" y="886968"/>
            <a:ext cx="2082338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65D0323-F572-B5B4-FF2E-385C403121C4}"/>
              </a:ext>
            </a:extLst>
          </p:cNvPr>
          <p:cNvSpPr/>
          <p:nvPr/>
        </p:nvSpPr>
        <p:spPr>
          <a:xfrm>
            <a:off x="338328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3657711-340D-5026-734C-4DBBE424A01A}"/>
              </a:ext>
            </a:extLst>
          </p:cNvPr>
          <p:cNvSpPr/>
          <p:nvPr/>
        </p:nvSpPr>
        <p:spPr>
          <a:xfrm>
            <a:off x="2593571" y="914400"/>
            <a:ext cx="6321829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8428D8C-2688-EED6-A90D-F2A8AF2F04BB}"/>
              </a:ext>
            </a:extLst>
          </p:cNvPr>
          <p:cNvSpPr/>
          <p:nvPr/>
        </p:nvSpPr>
        <p:spPr>
          <a:xfrm>
            <a:off x="2593571" y="914400"/>
            <a:ext cx="6321829" cy="320040"/>
          </a:xfrm>
          <a:prstGeom prst="rect">
            <a:avLst/>
          </a:prstGeom>
          <a:solidFill>
            <a:srgbClr val="1A2F54"/>
          </a:solidFill>
          <a:ln w="12700">
            <a:solidFill>
              <a:srgbClr val="1A2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87628C9-7948-359A-3E20-C96EEEAF8013}"/>
              </a:ext>
            </a:extLst>
          </p:cNvPr>
          <p:cNvSpPr/>
          <p:nvPr/>
        </p:nvSpPr>
        <p:spPr>
          <a:xfrm>
            <a:off x="4864608" y="93268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2</a:t>
            </a:r>
            <a:endParaRPr 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642487-8521-A694-F5C6-D43C2DCC08B6}"/>
              </a:ext>
            </a:extLst>
          </p:cNvPr>
          <p:cNvSpPr txBox="1"/>
          <p:nvPr/>
        </p:nvSpPr>
        <p:spPr>
          <a:xfrm>
            <a:off x="338328" y="1298448"/>
            <a:ext cx="175647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In cell 1, there is a HANGMAN_STAGES list, containing the ASCII art of each stage of hangman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1DEE8C-8615-FC9E-5D2C-ABE2CD10F251}"/>
              </a:ext>
            </a:extLst>
          </p:cNvPr>
          <p:cNvSpPr txBox="1"/>
          <p:nvPr/>
        </p:nvSpPr>
        <p:spPr>
          <a:xfrm>
            <a:off x="2822171" y="1298448"/>
            <a:ext cx="63218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In cell2, create the </a:t>
            </a:r>
            <a:r>
              <a:rPr lang="en-US" sz="1500" dirty="0" err="1"/>
              <a:t>play_hangman</a:t>
            </a:r>
            <a:r>
              <a:rPr lang="en-US" sz="1500" dirty="0"/>
              <a:t>() function</a:t>
            </a:r>
          </a:p>
          <a:p>
            <a:pPr marL="342900" indent="-342900">
              <a:buAutoNum type="arabicPeriod"/>
            </a:pPr>
            <a:r>
              <a:rPr lang="en-US" sz="1500" dirty="0"/>
              <a:t>Create world pool</a:t>
            </a:r>
          </a:p>
          <a:p>
            <a:pPr marL="342900" indent="-342900">
              <a:buAutoNum type="arabicPeriod"/>
            </a:pPr>
            <a:r>
              <a:rPr lang="en-US" sz="1500" dirty="0"/>
              <a:t>Randomly choose a word</a:t>
            </a:r>
          </a:p>
          <a:p>
            <a:pPr marL="342900" indent="-342900">
              <a:buAutoNum type="arabicPeriod"/>
            </a:pPr>
            <a:r>
              <a:rPr lang="en-US" sz="1500" dirty="0"/>
              <a:t>Game state variables</a:t>
            </a:r>
          </a:p>
          <a:p>
            <a:pPr marL="800100" lvl="1" indent="-342900">
              <a:buAutoNum type="arabicPeriod"/>
            </a:pPr>
            <a:r>
              <a:rPr lang="en-US" sz="1500" dirty="0"/>
              <a:t>Create a set keeping tract of the guessed letters</a:t>
            </a:r>
          </a:p>
          <a:p>
            <a:pPr marL="800100" lvl="1" indent="-342900">
              <a:buAutoNum type="arabicPeriod"/>
            </a:pPr>
            <a:r>
              <a:rPr lang="en-US" sz="1500" dirty="0"/>
              <a:t>Create an int keeping tract of the number of wrong letters guessed</a:t>
            </a:r>
          </a:p>
          <a:p>
            <a:pPr marL="800100" lvl="1" indent="-342900">
              <a:buAutoNum type="arabicPeriod"/>
            </a:pPr>
            <a:r>
              <a:rPr lang="en-US" sz="1500" dirty="0"/>
              <a:t>Max number of possible wrong letters guessed</a:t>
            </a:r>
          </a:p>
          <a:p>
            <a:pPr marL="342900" indent="-342900">
              <a:buAutoNum type="arabicPeriod"/>
            </a:pPr>
            <a:r>
              <a:rPr lang="en-US" sz="1500" dirty="0"/>
              <a:t>Main game loop (while/else)</a:t>
            </a:r>
          </a:p>
          <a:p>
            <a:pPr marL="800100" lvl="1" indent="-342900">
              <a:buAutoNum type="arabicPeriod"/>
            </a:pPr>
            <a:r>
              <a:rPr lang="en-US" sz="1500" dirty="0"/>
              <a:t>Clear the output</a:t>
            </a:r>
          </a:p>
          <a:p>
            <a:pPr marL="800100" lvl="1" indent="-342900">
              <a:buAutoNum type="arabicPeriod"/>
            </a:pPr>
            <a:r>
              <a:rPr lang="en-US" sz="1500" dirty="0"/>
              <a:t>Display the current stage, the hidden words (ex: </a:t>
            </a:r>
            <a:r>
              <a:rPr lang="en-US" sz="1500" dirty="0" err="1"/>
              <a:t>n_gh</a:t>
            </a:r>
            <a:r>
              <a:rPr lang="en-US" sz="1500" dirty="0"/>
              <a:t>_)</a:t>
            </a:r>
          </a:p>
          <a:p>
            <a:pPr marL="800100" lvl="1" indent="-342900">
              <a:buAutoNum type="arabicPeriod"/>
            </a:pPr>
            <a:r>
              <a:rPr lang="en-US" sz="1500" dirty="0"/>
              <a:t>Get player input</a:t>
            </a:r>
          </a:p>
          <a:p>
            <a:pPr marL="800100" lvl="1" indent="-342900">
              <a:buAutoNum type="arabicPeriod"/>
            </a:pPr>
            <a:r>
              <a:rPr lang="en-US" sz="1500" dirty="0"/>
              <a:t>Check if it is already guessed, is correct or false</a:t>
            </a:r>
          </a:p>
          <a:p>
            <a:pPr marL="800100" lvl="1" indent="-342900">
              <a:buFontTx/>
              <a:buAutoNum type="arabicPeriod"/>
            </a:pPr>
            <a:r>
              <a:rPr lang="en-US" sz="1500" dirty="0"/>
              <a:t>Check if the player won</a:t>
            </a:r>
          </a:p>
          <a:p>
            <a:pPr marL="800100" lvl="1" indent="-342900">
              <a:buAutoNum type="arabicPeriod"/>
            </a:pPr>
            <a:r>
              <a:rPr lang="en-US" sz="1500" dirty="0"/>
              <a:t>If the wrong letter guessed is larger than the max number possible wrong letters, the player losses</a:t>
            </a:r>
          </a:p>
          <a:p>
            <a:pPr marL="800100" lvl="1" indent="-342900">
              <a:buAutoNum type="arabicPeriod"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721039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640080" y="3200400"/>
            <a:ext cx="2286000" cy="22860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11455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Start Coding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C28D0-C0C5-7B02-4DB2-9631AA733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D8325D-9EED-C233-6808-B0E8A2646730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1D1BC7-E76F-38B2-9459-27A073095783}"/>
              </a:ext>
            </a:extLst>
          </p:cNvPr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2C55DC-E10E-88DE-32F4-69D57F620A1A}"/>
              </a:ext>
            </a:extLst>
          </p:cNvPr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Rules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EE7FD47-A244-0EE5-377B-C789BB4C4337}"/>
              </a:ext>
            </a:extLst>
          </p:cNvPr>
          <p:cNvSpPr/>
          <p:nvPr/>
        </p:nvSpPr>
        <p:spPr>
          <a:xfrm>
            <a:off x="228600" y="914400"/>
            <a:ext cx="8549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7571B34-A32F-A9A2-C195-61DAE625E0DD}"/>
              </a:ext>
            </a:extLst>
          </p:cNvPr>
          <p:cNvSpPr/>
          <p:nvPr/>
        </p:nvSpPr>
        <p:spPr>
          <a:xfrm>
            <a:off x="228600" y="914400"/>
            <a:ext cx="85496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ABA23AF-05E0-01ED-22B7-37C0DA49033B}"/>
              </a:ext>
            </a:extLst>
          </p:cNvPr>
          <p:cNvSpPr/>
          <p:nvPr/>
        </p:nvSpPr>
        <p:spPr>
          <a:xfrm>
            <a:off x="338328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9B11E8-B2BE-A209-12CF-8B0439BD9134}"/>
              </a:ext>
            </a:extLst>
          </p:cNvPr>
          <p:cNvSpPr txBox="1"/>
          <p:nvPr/>
        </p:nvSpPr>
        <p:spPr>
          <a:xfrm>
            <a:off x="1485249" y="1900331"/>
            <a:ext cx="12580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Import libraries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0EBB92-EC52-C817-07C6-8A0042C089D0}"/>
              </a:ext>
            </a:extLst>
          </p:cNvPr>
          <p:cNvSpPr txBox="1"/>
          <p:nvPr/>
        </p:nvSpPr>
        <p:spPr>
          <a:xfrm>
            <a:off x="984733" y="2897802"/>
            <a:ext cx="1829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Define a word pool and randomly select a word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6200A1-A0C3-5B2B-A9B0-5E00D48A5C2E}"/>
              </a:ext>
            </a:extLst>
          </p:cNvPr>
          <p:cNvSpPr txBox="1"/>
          <p:nvPr/>
        </p:nvSpPr>
        <p:spPr>
          <a:xfrm>
            <a:off x="226055" y="2507854"/>
            <a:ext cx="2446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Define the </a:t>
            </a:r>
            <a:r>
              <a:rPr lang="en-US" sz="1200" dirty="0" err="1"/>
              <a:t>play_hangman</a:t>
            </a:r>
            <a:r>
              <a:rPr lang="en-US" sz="1200" dirty="0"/>
              <a:t>() function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6B864C-BACD-58D3-76B0-0F031896EEBD}"/>
              </a:ext>
            </a:extLst>
          </p:cNvPr>
          <p:cNvSpPr txBox="1"/>
          <p:nvPr/>
        </p:nvSpPr>
        <p:spPr>
          <a:xfrm>
            <a:off x="433039" y="3514915"/>
            <a:ext cx="23088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State game variables and greet</a:t>
            </a:r>
          </a:p>
          <a:p>
            <a:r>
              <a:rPr lang="en-US" sz="1200" dirty="0"/>
              <a:t>(inside </a:t>
            </a:r>
            <a:r>
              <a:rPr lang="en-US" sz="1200" dirty="0" err="1"/>
              <a:t>play_hangman</a:t>
            </a:r>
            <a:r>
              <a:rPr lang="en-US" sz="1200" dirty="0"/>
              <a:t>() function)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30D53E1-BB42-A82C-3840-42BFBF193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012" y="1665403"/>
            <a:ext cx="5932096" cy="282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1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7D96E-7990-50C2-F164-2E218263A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182159-8BD3-8271-3B0C-980B36A7DCD0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51F8917-A0CC-0B22-C086-181D07166DD6}"/>
              </a:ext>
            </a:extLst>
          </p:cNvPr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8D572D-B119-BCAE-4D36-85756C45935F}"/>
              </a:ext>
            </a:extLst>
          </p:cNvPr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Rules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86832DF-B317-D7A7-5B13-A8CBA9510E73}"/>
              </a:ext>
            </a:extLst>
          </p:cNvPr>
          <p:cNvSpPr/>
          <p:nvPr/>
        </p:nvSpPr>
        <p:spPr>
          <a:xfrm>
            <a:off x="228600" y="914400"/>
            <a:ext cx="8549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2D734FA-6264-90C0-7C53-46C6A4985C1D}"/>
              </a:ext>
            </a:extLst>
          </p:cNvPr>
          <p:cNvSpPr/>
          <p:nvPr/>
        </p:nvSpPr>
        <p:spPr>
          <a:xfrm>
            <a:off x="228600" y="914400"/>
            <a:ext cx="85496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3BF3856-889B-D827-B038-6E1BDB797DF5}"/>
              </a:ext>
            </a:extLst>
          </p:cNvPr>
          <p:cNvSpPr/>
          <p:nvPr/>
        </p:nvSpPr>
        <p:spPr>
          <a:xfrm>
            <a:off x="338328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A02851-2392-0EFE-E6C7-DB4960AAC266}"/>
              </a:ext>
            </a:extLst>
          </p:cNvPr>
          <p:cNvSpPr txBox="1"/>
          <p:nvPr/>
        </p:nvSpPr>
        <p:spPr>
          <a:xfrm>
            <a:off x="338328" y="3740399"/>
            <a:ext cx="3955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 Main Game Loop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6E1C95-5F23-81D2-2B85-5FA3883B5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110" y="1643131"/>
            <a:ext cx="6069330" cy="27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682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5C214-0526-9A95-06DC-1AC9B2D8A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B259E1B-C322-BCCE-DBEC-837C6D4DAB3B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9AB2C7A-73B1-E3E5-9004-C3DF16C64009}"/>
              </a:ext>
            </a:extLst>
          </p:cNvPr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7417204-F478-1463-65DF-4730913A002B}"/>
              </a:ext>
            </a:extLst>
          </p:cNvPr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Rules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2255CEA-ECD2-B206-CB85-DF993C367960}"/>
              </a:ext>
            </a:extLst>
          </p:cNvPr>
          <p:cNvSpPr/>
          <p:nvPr/>
        </p:nvSpPr>
        <p:spPr>
          <a:xfrm>
            <a:off x="228600" y="914400"/>
            <a:ext cx="8549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B1AB305-A9C6-E05A-31F3-1CF4D8F21F71}"/>
              </a:ext>
            </a:extLst>
          </p:cNvPr>
          <p:cNvSpPr/>
          <p:nvPr/>
        </p:nvSpPr>
        <p:spPr>
          <a:xfrm>
            <a:off x="228600" y="914400"/>
            <a:ext cx="85496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E626D08-CBC7-1EFC-5572-3912F8B35196}"/>
              </a:ext>
            </a:extLst>
          </p:cNvPr>
          <p:cNvSpPr/>
          <p:nvPr/>
        </p:nvSpPr>
        <p:spPr>
          <a:xfrm>
            <a:off x="338328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A74862-A862-AE45-D404-16285F04AADF}"/>
              </a:ext>
            </a:extLst>
          </p:cNvPr>
          <p:cNvSpPr txBox="1"/>
          <p:nvPr/>
        </p:nvSpPr>
        <p:spPr>
          <a:xfrm>
            <a:off x="228600" y="1495395"/>
            <a:ext cx="20848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Inside while …</a:t>
            </a:r>
          </a:p>
          <a:p>
            <a:pPr algn="r"/>
            <a:endParaRPr lang="en-US" sz="1200" dirty="0"/>
          </a:p>
          <a:p>
            <a:pPr algn="r"/>
            <a:r>
              <a:rPr lang="en-US" sz="1200" dirty="0"/>
              <a:t>Clear previous outputs</a:t>
            </a:r>
          </a:p>
          <a:p>
            <a:pPr algn="r"/>
            <a:endParaRPr lang="en-US" sz="1200" dirty="0"/>
          </a:p>
          <a:p>
            <a:pPr algn="r"/>
            <a:r>
              <a:rPr lang="en-US" sz="1200" dirty="0"/>
              <a:t>Display the gallows</a:t>
            </a:r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r>
              <a:rPr lang="en-US" sz="1200" dirty="0"/>
              <a:t>Display the word so far</a:t>
            </a:r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r>
              <a:rPr lang="en-US" sz="1200" dirty="0"/>
              <a:t>Display the current progress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44B659-205D-22DB-D34F-239B5A5D4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1408176"/>
            <a:ext cx="6069144" cy="308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65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AD273-7120-B396-C349-9696158A4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965917-8B1B-821D-51BF-DA14DA50C74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85743DF-F4FC-EF33-B20B-296DADB2BCD4}"/>
              </a:ext>
            </a:extLst>
          </p:cNvPr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DF5E10-DB1B-C7C9-212D-B4741BA57EAA}"/>
              </a:ext>
            </a:extLst>
          </p:cNvPr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Rules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0C98208-F10E-4163-4227-0A9E9A45C09E}"/>
              </a:ext>
            </a:extLst>
          </p:cNvPr>
          <p:cNvSpPr/>
          <p:nvPr/>
        </p:nvSpPr>
        <p:spPr>
          <a:xfrm>
            <a:off x="228600" y="914400"/>
            <a:ext cx="8549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F8BE521-5E52-2F6D-BF3A-2A9519889E6F}"/>
              </a:ext>
            </a:extLst>
          </p:cNvPr>
          <p:cNvSpPr/>
          <p:nvPr/>
        </p:nvSpPr>
        <p:spPr>
          <a:xfrm>
            <a:off x="228600" y="914400"/>
            <a:ext cx="85496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65B4EA-9149-0508-650E-2BEF818FC315}"/>
              </a:ext>
            </a:extLst>
          </p:cNvPr>
          <p:cNvSpPr/>
          <p:nvPr/>
        </p:nvSpPr>
        <p:spPr>
          <a:xfrm>
            <a:off x="338328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A8FF02-528B-9A8B-BAF2-455A81D5C1B4}"/>
              </a:ext>
            </a:extLst>
          </p:cNvPr>
          <p:cNvSpPr txBox="1"/>
          <p:nvPr/>
        </p:nvSpPr>
        <p:spPr>
          <a:xfrm>
            <a:off x="338329" y="1408176"/>
            <a:ext cx="22105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Still inside the while loop, after outputting the current progress</a:t>
            </a:r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r>
              <a:rPr lang="en-US" sz="1200" dirty="0"/>
              <a:t>Force </a:t>
            </a:r>
            <a:r>
              <a:rPr lang="en-US" sz="1200" dirty="0" err="1"/>
              <a:t>Jupyter</a:t>
            </a:r>
            <a:r>
              <a:rPr lang="en-US" sz="1200" dirty="0"/>
              <a:t> to display everything </a:t>
            </a:r>
          </a:p>
          <a:p>
            <a:pPr algn="r"/>
            <a:endParaRPr lang="en-US" sz="1200" dirty="0"/>
          </a:p>
          <a:p>
            <a:pPr algn="r"/>
            <a:r>
              <a:rPr lang="en-US" sz="1200" dirty="0"/>
              <a:t>Get player input </a:t>
            </a:r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r>
              <a:rPr lang="en-US" sz="1200" dirty="0"/>
              <a:t>Make an exist from the game</a:t>
            </a:r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r>
              <a:rPr lang="en-US" sz="1200" dirty="0"/>
              <a:t>Test if the input is a valid letter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BCA6DA-E47F-BB96-66FF-75A3601A0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620" y="1370955"/>
            <a:ext cx="5920740" cy="16952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F5278E-0854-6398-8843-9E7975287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8619" y="3153763"/>
            <a:ext cx="4618457" cy="8150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D053A6-EA41-8D46-7209-1A78FF78C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8619" y="4042716"/>
            <a:ext cx="4465320" cy="74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197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DC7B0-ADB2-E1EB-6AEE-2FB2BA574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F1D35A-71B1-5F28-664A-F44C5272F379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84FDED3-585E-9895-06AC-214246EA7269}"/>
              </a:ext>
            </a:extLst>
          </p:cNvPr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FCCBFF-D231-B09B-4F26-A94E66EB8DD5}"/>
              </a:ext>
            </a:extLst>
          </p:cNvPr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Rules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9E94862-B26D-A3E3-051D-FFB4B213B416}"/>
              </a:ext>
            </a:extLst>
          </p:cNvPr>
          <p:cNvSpPr/>
          <p:nvPr/>
        </p:nvSpPr>
        <p:spPr>
          <a:xfrm>
            <a:off x="228600" y="914400"/>
            <a:ext cx="8549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F04A263-1EDA-92C0-7157-99984032487E}"/>
              </a:ext>
            </a:extLst>
          </p:cNvPr>
          <p:cNvSpPr/>
          <p:nvPr/>
        </p:nvSpPr>
        <p:spPr>
          <a:xfrm>
            <a:off x="228600" y="914400"/>
            <a:ext cx="85496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C43637E-7F42-D39C-D9B0-A5414E1A982D}"/>
              </a:ext>
            </a:extLst>
          </p:cNvPr>
          <p:cNvSpPr/>
          <p:nvPr/>
        </p:nvSpPr>
        <p:spPr>
          <a:xfrm>
            <a:off x="338328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99D5D-45BD-14CC-C226-4A08CFD41DE7}"/>
              </a:ext>
            </a:extLst>
          </p:cNvPr>
          <p:cNvSpPr txBox="1"/>
          <p:nvPr/>
        </p:nvSpPr>
        <p:spPr>
          <a:xfrm>
            <a:off x="338329" y="1408176"/>
            <a:ext cx="221056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Still inside the while loop, after testing if it is a valid input</a:t>
            </a:r>
          </a:p>
          <a:p>
            <a:pPr algn="r"/>
            <a:r>
              <a:rPr lang="en-US" sz="1200" dirty="0"/>
              <a:t>Test if the input was already guessed</a:t>
            </a:r>
          </a:p>
          <a:p>
            <a:pPr algn="r"/>
            <a:endParaRPr lang="en-US" sz="1200" dirty="0"/>
          </a:p>
          <a:p>
            <a:pPr algn="r"/>
            <a:r>
              <a:rPr lang="en-US" sz="1200" dirty="0"/>
              <a:t>Add the guessed character to the set</a:t>
            </a:r>
          </a:p>
          <a:p>
            <a:pPr algn="r"/>
            <a:endParaRPr lang="en-US" sz="1200" dirty="0"/>
          </a:p>
          <a:p>
            <a:pPr algn="r"/>
            <a:r>
              <a:rPr lang="en-US" sz="1200" dirty="0"/>
              <a:t>Check if the guess is wrong</a:t>
            </a:r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endParaRPr lang="en-US" sz="1200" dirty="0"/>
          </a:p>
          <a:p>
            <a:pPr algn="r"/>
            <a:r>
              <a:rPr lang="en-US" sz="1200" dirty="0"/>
              <a:t>Check if the player guessed all the characters – you won!!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F715A0-117B-BFBD-FA9B-06BE1B80C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3113" y="1408176"/>
            <a:ext cx="5920905" cy="323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03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04F9D-5B26-A53A-1F38-DCE537ABD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5B9DC5-D4A2-591B-5E70-8EA311BE57A6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8E2E70C-7DD5-C7D7-6490-81C7B99D9CA0}"/>
              </a:ext>
            </a:extLst>
          </p:cNvPr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B0BF28-AE37-39A7-B1C2-6DC7E0717D56}"/>
              </a:ext>
            </a:extLst>
          </p:cNvPr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Rules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99D81EB-28BA-EF73-1C9C-361E9CB805FF}"/>
              </a:ext>
            </a:extLst>
          </p:cNvPr>
          <p:cNvSpPr/>
          <p:nvPr/>
        </p:nvSpPr>
        <p:spPr>
          <a:xfrm>
            <a:off x="228600" y="914400"/>
            <a:ext cx="8549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60C4389-D4D6-8D1D-AA02-A9F5F87AB17F}"/>
              </a:ext>
            </a:extLst>
          </p:cNvPr>
          <p:cNvSpPr/>
          <p:nvPr/>
        </p:nvSpPr>
        <p:spPr>
          <a:xfrm>
            <a:off x="228600" y="914400"/>
            <a:ext cx="85496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A93BBA8-4FB4-B100-88CF-CAFD2CB3023F}"/>
              </a:ext>
            </a:extLst>
          </p:cNvPr>
          <p:cNvSpPr/>
          <p:nvPr/>
        </p:nvSpPr>
        <p:spPr>
          <a:xfrm>
            <a:off x="338328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12053F-EC30-3EF7-F01D-433131563368}"/>
              </a:ext>
            </a:extLst>
          </p:cNvPr>
          <p:cNvSpPr txBox="1"/>
          <p:nvPr/>
        </p:nvSpPr>
        <p:spPr>
          <a:xfrm>
            <a:off x="338329" y="1716514"/>
            <a:ext cx="2210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How if wrong guesses &gt;= max wrong guesses</a:t>
            </a:r>
          </a:p>
          <a:p>
            <a:pPr algn="r"/>
            <a:r>
              <a:rPr lang="en-US" sz="1200" dirty="0"/>
              <a:t>Outside of while loop, inside the corresponding else</a:t>
            </a:r>
          </a:p>
          <a:p>
            <a:pPr algn="r"/>
            <a:endParaRPr lang="en-US" sz="1200" dirty="0"/>
          </a:p>
          <a:p>
            <a:pPr algn="r"/>
            <a:r>
              <a:rPr lang="en-US" sz="1200" dirty="0"/>
              <a:t>End the game – you lost :(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C0323A-48E1-385D-92FC-873A00587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891" y="1589084"/>
            <a:ext cx="5909311" cy="14232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186743-F286-2B5C-03CD-618FA84C4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8891" y="3426986"/>
            <a:ext cx="2720339" cy="7838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7D932A9-3393-82F6-2833-A1A9B24041E3}"/>
              </a:ext>
            </a:extLst>
          </p:cNvPr>
          <p:cNvSpPr txBox="1"/>
          <p:nvPr/>
        </p:nvSpPr>
        <p:spPr>
          <a:xfrm>
            <a:off x="589788" y="3495733"/>
            <a:ext cx="1805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Outside of the </a:t>
            </a:r>
            <a:r>
              <a:rPr lang="en-US" sz="1200" dirty="0" err="1"/>
              <a:t>play_hangman</a:t>
            </a:r>
            <a:r>
              <a:rPr lang="en-US" sz="1200" dirty="0"/>
              <a:t>() function,</a:t>
            </a:r>
          </a:p>
          <a:p>
            <a:pPr algn="r"/>
            <a:r>
              <a:rPr lang="en-US" sz="1200" dirty="0"/>
              <a:t>Call it to test the game</a:t>
            </a:r>
          </a:p>
        </p:txBody>
      </p:sp>
    </p:spTree>
    <p:extLst>
      <p:ext uri="{BB962C8B-B14F-4D97-AF65-F5344CB8AC3E}">
        <p14:creationId xmlns:p14="http://schemas.microsoft.com/office/powerpoint/2010/main" val="1234923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C85138-0A1A-D79C-0318-660506AFA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50DFEF-0D62-84FB-8F67-83FA67077010}"/>
              </a:ext>
            </a:extLst>
          </p:cNvPr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EF1E9AC-8BC0-7C56-18FC-D07EB6976266}"/>
              </a:ext>
            </a:extLst>
          </p:cNvPr>
          <p:cNvSpPr/>
          <p:nvPr/>
        </p:nvSpPr>
        <p:spPr>
          <a:xfrm>
            <a:off x="-640080" y="3200400"/>
            <a:ext cx="2286000" cy="22860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0A0583-76D1-374C-8BAF-84033416634D}"/>
              </a:ext>
            </a:extLst>
          </p:cNvPr>
          <p:cNvSpPr/>
          <p:nvPr/>
        </p:nvSpPr>
        <p:spPr>
          <a:xfrm>
            <a:off x="640080" y="211455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Finished! 🥳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74787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527</Words>
  <Application>Microsoft Macintosh PowerPoint</Application>
  <PresentationFormat>On-screen Show (16:9)</PresentationFormat>
  <Paragraphs>121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Linear Algebra for ML</dc:title>
  <dc:subject>PptxGenJS Presentation</dc:subject>
  <dc:creator>PptxGenJS</dc:creator>
  <cp:lastModifiedBy>Wang, Yihan</cp:lastModifiedBy>
  <cp:revision>5</cp:revision>
  <dcterms:created xsi:type="dcterms:W3CDTF">2026-05-31T02:15:35Z</dcterms:created>
  <dcterms:modified xsi:type="dcterms:W3CDTF">2026-06-14T01:43:02Z</dcterms:modified>
</cp:coreProperties>
</file>