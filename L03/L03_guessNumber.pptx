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1" r:id="rId5"/>
    <p:sldId id="276" r:id="rId6"/>
    <p:sldId id="265" r:id="rId7"/>
    <p:sldId id="278" r:id="rId8"/>
    <p:sldId id="28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A996"/>
    <a:srgbClr val="08DB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436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208" y="1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27269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2533F-B8CA-127E-E799-9E8E2C0B7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61061B-D216-1507-61FD-56FAADC8C6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DA6542-2E0F-243A-1D42-52FFA3F900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3AC635-201D-2BD3-334D-D517A2C1EE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4459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19760-A411-E3FD-23F0-B45ED4926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941EB2-0B0F-BFAE-08F4-46B9973FC4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3A57D3-BDF6-7354-B275-67D934E59D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E2F900-CB2F-B2F3-7C15-8F916C162C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7935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8CC08-D88B-935D-14F2-14DE7B9F0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705970-2500-82D6-2CAB-D44CDD6370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84C311-84C5-F6F9-6E5D-434857E172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5BC4C7-B3D9-0F95-A16C-891C82C1E0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2805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943600" y="-1097280"/>
            <a:ext cx="4572000" cy="4572000"/>
          </a:xfrm>
          <a:prstGeom prst="ellipse">
            <a:avLst/>
          </a:prstGeom>
          <a:solidFill>
            <a:srgbClr val="00C2A8">
              <a:alpha val="10000"/>
            </a:srgbClr>
          </a:solidFill>
          <a:ln w="12700">
            <a:solidFill>
              <a:srgbClr val="00C2A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0" y="2743200"/>
            <a:ext cx="2743200" cy="2743200"/>
          </a:xfrm>
          <a:prstGeom prst="ellipse">
            <a:avLst/>
          </a:prstGeom>
          <a:solidFill>
            <a:srgbClr val="4FC3F7">
              <a:alpha val="15000"/>
            </a:srgbClr>
          </a:solidFill>
          <a:ln w="12700">
            <a:solidFill>
              <a:srgbClr val="4FC3F7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874519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 the Number</a:t>
            </a:r>
            <a:endParaRPr lang="en-US" sz="5200" dirty="0"/>
          </a:p>
        </p:txBody>
      </p:sp>
      <p:sp>
        <p:nvSpPr>
          <p:cNvPr id="8" name="Shape 6"/>
          <p:cNvSpPr/>
          <p:nvPr/>
        </p:nvSpPr>
        <p:spPr>
          <a:xfrm>
            <a:off x="502920" y="3337560"/>
            <a:ext cx="3657600" cy="0"/>
          </a:xfrm>
          <a:prstGeom prst="line">
            <a:avLst/>
          </a:prstGeom>
          <a:noFill/>
          <a:ln w="1905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731520"/>
            <a:ext cx="3200400" cy="3200400"/>
          </a:xfrm>
          <a:prstGeom prst="ellipse">
            <a:avLst/>
          </a:prstGeom>
          <a:solidFill>
            <a:srgbClr val="00C2A8">
              <a:alpha val="12000"/>
            </a:srgbClr>
          </a:solidFill>
          <a:ln w="12700">
            <a:solidFill>
              <a:srgbClr val="00C2A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640080" y="3200400"/>
            <a:ext cx="2286000" cy="2286000"/>
          </a:xfrm>
          <a:prstGeom prst="ellipse">
            <a:avLst/>
          </a:prstGeom>
          <a:solidFill>
            <a:srgbClr val="4FC3F7">
              <a:alpha val="15000"/>
            </a:srgbClr>
          </a:solidFill>
          <a:ln w="12700">
            <a:solidFill>
              <a:srgbClr val="4FC3F7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211455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Rules of the Game</a:t>
            </a:r>
            <a:endParaRPr lang="en-US"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9144000" cy="68580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Rules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599" y="914400"/>
            <a:ext cx="8549641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AE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8600" y="914400"/>
            <a:ext cx="854964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38328" y="9326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3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4E25D1-7C5C-BACF-FFE5-88944BD8DB16}"/>
              </a:ext>
            </a:extLst>
          </p:cNvPr>
          <p:cNvSpPr txBox="1"/>
          <p:nvPr/>
        </p:nvSpPr>
        <p:spPr>
          <a:xfrm>
            <a:off x="365760" y="1408176"/>
            <a:ext cx="7631780" cy="2693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dirty="0"/>
              <a:t>The computer chooses a secret number between 1 and 100.</a:t>
            </a:r>
          </a:p>
          <a:p>
            <a:r>
              <a:rPr lang="en-US" sz="1300" dirty="0"/>
              <a:t>The player’s goal is to to guess the secret number in as few attempts as possible.</a:t>
            </a:r>
          </a:p>
          <a:p>
            <a:r>
              <a:rPr lang="en-US" sz="1300" dirty="0"/>
              <a:t>The player will enter a guess between 1 and 100 each turn.</a:t>
            </a:r>
          </a:p>
          <a:p>
            <a:r>
              <a:rPr lang="en-US" sz="1300" dirty="0"/>
              <a:t>After each guess, the game will give feedback:</a:t>
            </a:r>
          </a:p>
          <a:p>
            <a:pPr lvl="1"/>
            <a:r>
              <a:rPr lang="en-US" sz="1300" dirty="0"/>
              <a:t>“Too high!” → Your guess is above the secret number.</a:t>
            </a:r>
          </a:p>
          <a:p>
            <a:pPr lvl="1"/>
            <a:r>
              <a:rPr lang="en-US" sz="1300" dirty="0"/>
              <a:t>“Too low!” → Your guess is below the secret number.</a:t>
            </a:r>
          </a:p>
          <a:p>
            <a:r>
              <a:rPr lang="en-US" sz="1300" dirty="0"/>
              <a:t>Each guess counts as one attempt.</a:t>
            </a:r>
          </a:p>
          <a:p>
            <a:r>
              <a:rPr lang="en-US" sz="1300" dirty="0"/>
              <a:t>The game keeps track of how many attempts you’ve made.</a:t>
            </a:r>
          </a:p>
          <a:p>
            <a:r>
              <a:rPr lang="en-US" sz="1300" dirty="0"/>
              <a:t>You win when you correctly guess the secret number.</a:t>
            </a:r>
          </a:p>
          <a:p>
            <a:r>
              <a:rPr lang="en-US" sz="1300" dirty="0"/>
              <a:t>If you reach 10 or more attempts, the game reveals the correct number and ends.</a:t>
            </a:r>
          </a:p>
          <a:p>
            <a:r>
              <a:rPr lang="en-US" sz="1300" dirty="0"/>
              <a:t>The game stops when:</a:t>
            </a:r>
          </a:p>
          <a:p>
            <a:pPr lvl="1"/>
            <a:r>
              <a:rPr lang="en-US" sz="1300" dirty="0"/>
              <a:t>You guess correctly, OR</a:t>
            </a:r>
          </a:p>
          <a:p>
            <a:pPr lvl="1"/>
            <a:r>
              <a:rPr lang="en-US" sz="1300" dirty="0"/>
              <a:t>The attempt limit condition is triggered.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731520"/>
            <a:ext cx="3200400" cy="3200400"/>
          </a:xfrm>
          <a:prstGeom prst="ellipse">
            <a:avLst/>
          </a:prstGeom>
          <a:solidFill>
            <a:srgbClr val="00C2A8">
              <a:alpha val="12000"/>
            </a:srgbClr>
          </a:solidFill>
          <a:ln w="12700">
            <a:solidFill>
              <a:srgbClr val="00C2A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640080" y="3200400"/>
            <a:ext cx="2286000" cy="2286000"/>
          </a:xfrm>
          <a:prstGeom prst="ellipse">
            <a:avLst/>
          </a:prstGeom>
          <a:solidFill>
            <a:srgbClr val="4FC3F7">
              <a:alpha val="15000"/>
            </a:srgbClr>
          </a:solidFill>
          <a:ln w="12700">
            <a:solidFill>
              <a:srgbClr val="4FC3F7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211455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Game Coding Structure</a:t>
            </a:r>
            <a:endParaRPr lang="en-US" sz="4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C191E-86B6-E0F4-8164-865688C7B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B30D711-5466-8F10-6B65-1ED4FC3ECA84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E1C70D0-BDC1-7F83-00C7-A51B19A06BBB}"/>
              </a:ext>
            </a:extLst>
          </p:cNvPr>
          <p:cNvSpPr/>
          <p:nvPr/>
        </p:nvSpPr>
        <p:spPr>
          <a:xfrm>
            <a:off x="0" y="73152"/>
            <a:ext cx="9144000" cy="68580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2949DEC-445C-67F8-D1D7-6B3BD4E9A241}"/>
              </a:ext>
            </a:extLst>
          </p:cNvPr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Structure</a:t>
            </a:r>
            <a:endParaRPr lang="en-US" sz="2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327A3E0-6F30-4749-87AC-852A6A6DB1BC}"/>
              </a:ext>
            </a:extLst>
          </p:cNvPr>
          <p:cNvSpPr/>
          <p:nvPr/>
        </p:nvSpPr>
        <p:spPr>
          <a:xfrm>
            <a:off x="228600" y="914400"/>
            <a:ext cx="86868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AE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93822FF-B37C-FC10-3E99-83565D2308D8}"/>
              </a:ext>
            </a:extLst>
          </p:cNvPr>
          <p:cNvSpPr/>
          <p:nvPr/>
        </p:nvSpPr>
        <p:spPr>
          <a:xfrm>
            <a:off x="228600" y="886968"/>
            <a:ext cx="8686800" cy="3657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65D0323-F572-B5B4-FF2E-385C403121C4}"/>
              </a:ext>
            </a:extLst>
          </p:cNvPr>
          <p:cNvSpPr/>
          <p:nvPr/>
        </p:nvSpPr>
        <p:spPr>
          <a:xfrm>
            <a:off x="338328" y="9326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1</a:t>
            </a:r>
            <a:endParaRPr lang="en-US" sz="13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6698B30-B448-FE81-7327-BCBF7ED177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4725" y="1336623"/>
            <a:ext cx="4956805" cy="3471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039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731520"/>
            <a:ext cx="3200400" cy="3200400"/>
          </a:xfrm>
          <a:prstGeom prst="ellipse">
            <a:avLst/>
          </a:prstGeom>
          <a:solidFill>
            <a:srgbClr val="00C2A8">
              <a:alpha val="12000"/>
            </a:srgbClr>
          </a:solidFill>
          <a:ln w="12700">
            <a:solidFill>
              <a:srgbClr val="00C2A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640080" y="3200400"/>
            <a:ext cx="2286000" cy="2286000"/>
          </a:xfrm>
          <a:prstGeom prst="ellipse">
            <a:avLst/>
          </a:prstGeom>
          <a:solidFill>
            <a:srgbClr val="4FC3F7">
              <a:alpha val="15000"/>
            </a:srgbClr>
          </a:solidFill>
          <a:ln w="12700">
            <a:solidFill>
              <a:srgbClr val="4FC3F7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211455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Code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7D96E-7990-50C2-F164-2E218263A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8182159-8BD3-8271-3B0C-980B36A7DCD0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51F8917-A0CC-0B22-C086-181D07166DD6}"/>
              </a:ext>
            </a:extLst>
          </p:cNvPr>
          <p:cNvSpPr/>
          <p:nvPr/>
        </p:nvSpPr>
        <p:spPr>
          <a:xfrm>
            <a:off x="0" y="73152"/>
            <a:ext cx="9144000" cy="685800"/>
          </a:xfrm>
          <a:prstGeom prst="rect">
            <a:avLst/>
          </a:prstGeom>
          <a:solidFill>
            <a:srgbClr val="0F1E3C"/>
          </a:solidFill>
          <a:ln w="12700">
            <a:solidFill>
              <a:srgbClr val="0F1E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18D572D-B119-BCAE-4D36-85756C45935F}"/>
              </a:ext>
            </a:extLst>
          </p:cNvPr>
          <p:cNvSpPr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Rules</a:t>
            </a:r>
            <a:endParaRPr lang="en-US" sz="2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86832DF-B317-D7A7-5B13-A8CBA9510E73}"/>
              </a:ext>
            </a:extLst>
          </p:cNvPr>
          <p:cNvSpPr/>
          <p:nvPr/>
        </p:nvSpPr>
        <p:spPr>
          <a:xfrm>
            <a:off x="228600" y="914400"/>
            <a:ext cx="85496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AE8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2D734FA-6264-90C0-7C53-46C6A4985C1D}"/>
              </a:ext>
            </a:extLst>
          </p:cNvPr>
          <p:cNvSpPr/>
          <p:nvPr/>
        </p:nvSpPr>
        <p:spPr>
          <a:xfrm>
            <a:off x="228600" y="914400"/>
            <a:ext cx="854964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3BF3856-889B-D827-B038-6E1BDB797DF5}"/>
              </a:ext>
            </a:extLst>
          </p:cNvPr>
          <p:cNvSpPr/>
          <p:nvPr/>
        </p:nvSpPr>
        <p:spPr>
          <a:xfrm>
            <a:off x="338328" y="9326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13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D275C85-FAE9-2AD6-72F3-BF96AA4FE2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9970" y="1297089"/>
            <a:ext cx="4624059" cy="3559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682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E3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C85138-0A1A-D79C-0318-660506AFA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050DFEF-0D62-84FB-8F67-83FA67077010}"/>
              </a:ext>
            </a:extLst>
          </p:cNvPr>
          <p:cNvSpPr/>
          <p:nvPr/>
        </p:nvSpPr>
        <p:spPr>
          <a:xfrm>
            <a:off x="7498080" y="-731520"/>
            <a:ext cx="3200400" cy="3200400"/>
          </a:xfrm>
          <a:prstGeom prst="ellipse">
            <a:avLst/>
          </a:prstGeom>
          <a:solidFill>
            <a:srgbClr val="00C2A8">
              <a:alpha val="12000"/>
            </a:srgbClr>
          </a:solidFill>
          <a:ln w="12700">
            <a:solidFill>
              <a:srgbClr val="00C2A8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EF1E9AC-8BC0-7C56-18FC-D07EB6976266}"/>
              </a:ext>
            </a:extLst>
          </p:cNvPr>
          <p:cNvSpPr/>
          <p:nvPr/>
        </p:nvSpPr>
        <p:spPr>
          <a:xfrm>
            <a:off x="-640080" y="3200400"/>
            <a:ext cx="2286000" cy="2286000"/>
          </a:xfrm>
          <a:prstGeom prst="ellipse">
            <a:avLst/>
          </a:prstGeom>
          <a:solidFill>
            <a:srgbClr val="4FC3F7">
              <a:alpha val="15000"/>
            </a:srgbClr>
          </a:solidFill>
          <a:ln w="12700">
            <a:solidFill>
              <a:srgbClr val="4FC3F7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E0A0583-76D1-374C-8BAF-84033416634D}"/>
              </a:ext>
            </a:extLst>
          </p:cNvPr>
          <p:cNvSpPr/>
          <p:nvPr/>
        </p:nvSpPr>
        <p:spPr>
          <a:xfrm>
            <a:off x="640080" y="211455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Finished! 🥳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174787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1138</TotalTime>
  <Words>178</Words>
  <Application>Microsoft Macintosh PowerPoint</Application>
  <PresentationFormat>On-screen Show (16:9)</PresentationFormat>
  <Paragraphs>33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Linear Algebra for ML</dc:title>
  <dc:subject>PptxGenJS Presentation</dc:subject>
  <dc:creator>PptxGenJS</dc:creator>
  <cp:lastModifiedBy>Wang, Yihan</cp:lastModifiedBy>
  <cp:revision>7</cp:revision>
  <dcterms:created xsi:type="dcterms:W3CDTF">2026-05-31T02:15:35Z</dcterms:created>
  <dcterms:modified xsi:type="dcterms:W3CDTF">2026-06-15T02:13:17Z</dcterms:modified>
</cp:coreProperties>
</file>