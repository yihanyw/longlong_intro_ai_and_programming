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71" r:id="rId5"/>
    <p:sldId id="269" r:id="rId6"/>
    <p:sldId id="266" r:id="rId7"/>
    <p:sldId id="267" r:id="rId8"/>
    <p:sldId id="265" r:id="rId9"/>
    <p:sldId id="264" r:id="rId10"/>
    <p:sldId id="268" r:id="rId11"/>
    <p:sldId id="263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348"/>
    <p:restoredTop sz="94620"/>
  </p:normalViewPr>
  <p:slideViewPr>
    <p:cSldViewPr snapToGrid="0" snapToObjects="1">
      <p:cViewPr varScale="1">
        <p:scale>
          <a:sx n="85" d="100"/>
          <a:sy n="85" d="100"/>
        </p:scale>
        <p:origin x="176" y="1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898978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Question: </a:t>
            </a:r>
          </a:p>
          <a:p>
            <a:pPr marL="228600" indent="-228600">
              <a:buAutoNum type="arabicPeriod"/>
            </a:pPr>
            <a:r>
              <a:rPr lang="en-US" dirty="0"/>
              <a:t>How familiar are you to coding</a:t>
            </a:r>
          </a:p>
          <a:p>
            <a:pPr marL="228600" indent="-228600">
              <a:buAutoNum type="arabicPeriod"/>
            </a:pPr>
            <a:r>
              <a:rPr lang="en-US" dirty="0"/>
              <a:t>What math do you know? Do you </a:t>
            </a:r>
            <a:r>
              <a:rPr lang="en-US"/>
              <a:t>know slope?</a:t>
            </a:r>
          </a:p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C454D6-CAA7-0CAF-EC02-C8ED0E2080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C6EDC8-1652-CB54-3423-224E6EDB5E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E0235B-3A68-E1DA-7BC2-3F783235AF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Question: </a:t>
            </a:r>
          </a:p>
          <a:p>
            <a:pPr marL="228600" indent="-228600">
              <a:buAutoNum type="arabicPeriod"/>
            </a:pPr>
            <a:r>
              <a:rPr lang="en-US" dirty="0"/>
              <a:t>How familiar are you to coding</a:t>
            </a:r>
          </a:p>
          <a:p>
            <a:pPr marL="228600" indent="-228600">
              <a:buAutoNum type="arabicPeriod"/>
            </a:pPr>
            <a:r>
              <a:rPr lang="en-US" dirty="0"/>
              <a:t>What math do you know? Do you </a:t>
            </a:r>
            <a:r>
              <a:rPr lang="en-US"/>
              <a:t>know slope?</a:t>
            </a:r>
          </a:p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356F88-7236-3072-9040-CA49C052E7B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80848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7411C4-FC93-430B-ADD5-6E50C8861F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354374-5828-7B5C-3951-42FD709668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FDE57F-9199-0CCF-3595-B7257A0B16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AE6980-17EE-8839-ECBD-5AD84240E38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70492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C27CB2-F82B-E60C-50BF-243BA67C53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DC0D36-B978-54B2-C81E-8B0B130A14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15C1FC-F289-53F5-BCA4-873562A02C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E50A4F-7392-47B1-D418-BA2605C7A5E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054518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2FF25C-E6B4-97B5-9AA2-923F63E64C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D39B16-E821-ED73-6C31-FF6D725AAC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6FD652-9FEF-A6A0-80D8-AEDE559441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8CEF51-AA1A-B664-862A-F4BDBFF30AA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288801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F4675E-3BBB-2222-1F9A-90A8B8658B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21875F1-A182-B50B-6E96-225B8B04E9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ABD38E-7C73-8EC8-33D0-15DCAF7DFE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091DA7-9375-8626-629E-A3606561AB5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071732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98BD42-3417-32F8-C4B5-2F93D259D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4A2B8D-697F-39BD-AD74-7EA58E9E86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E6BB8D-AD5D-07D5-88DC-F215C1D5BA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03FD09-16F4-A8D9-B279-04B0C6A7FD4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468628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1FC776-8CD7-D959-A77A-59C1B93178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5E5EC7-E781-D1D6-CF95-CDF4D7EE3B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78A5A5-1374-351B-6C17-FBA046B3A3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FD8591-C2D3-BA35-A5EC-F11F2318971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332060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3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7830" y="1479278"/>
            <a:ext cx="1463040" cy="1463040"/>
          </a:xfrm>
          <a:prstGeom prst="rect">
            <a:avLst/>
          </a:prstGeom>
        </p:spPr>
      </p:pic>
      <p:sp>
        <p:nvSpPr>
          <p:cNvPr id="76" name="Shape 73"/>
          <p:cNvSpPr/>
          <p:nvPr/>
        </p:nvSpPr>
        <p:spPr>
          <a:xfrm>
            <a:off x="502920" y="640080"/>
            <a:ext cx="2560320" cy="347472"/>
          </a:xfrm>
          <a:prstGeom prst="roundRect">
            <a:avLst>
              <a:gd name="adj" fmla="val 15789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Text 74"/>
          <p:cNvSpPr/>
          <p:nvPr/>
        </p:nvSpPr>
        <p:spPr>
          <a:xfrm>
            <a:off x="502920" y="64008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A2340"/>
                </a:solidFill>
              </a:rPr>
              <a:t>INTRODUCTION TO PYTHON &amp; AI</a:t>
            </a:r>
            <a:endParaRPr lang="en-US" sz="800" dirty="0"/>
          </a:p>
        </p:txBody>
      </p:sp>
      <p:sp>
        <p:nvSpPr>
          <p:cNvPr id="78" name="Text 75"/>
          <p:cNvSpPr/>
          <p:nvPr/>
        </p:nvSpPr>
        <p:spPr>
          <a:xfrm>
            <a:off x="502920" y="973836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1</a:t>
            </a:r>
            <a:endParaRPr lang="en-US" sz="1400" dirty="0"/>
          </a:p>
        </p:txBody>
      </p:sp>
      <p:sp>
        <p:nvSpPr>
          <p:cNvPr id="79" name="Text 76"/>
          <p:cNvSpPr/>
          <p:nvPr/>
        </p:nvSpPr>
        <p:spPr>
          <a:xfrm>
            <a:off x="502920" y="1408176"/>
            <a:ext cx="6400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 &amp;</a:t>
            </a:r>
            <a:endParaRPr lang="en-US" sz="4400" dirty="0"/>
          </a:p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Setup</a:t>
            </a:r>
            <a:endParaRPr lang="en-US" sz="4400" dirty="0"/>
          </a:p>
        </p:txBody>
      </p:sp>
      <p:sp>
        <p:nvSpPr>
          <p:cNvPr id="80" name="Text 77"/>
          <p:cNvSpPr/>
          <p:nvPr/>
        </p:nvSpPr>
        <p:spPr>
          <a:xfrm>
            <a:off x="502920" y="3218688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your machine ready + first Python steps</a:t>
            </a:r>
            <a:endParaRPr lang="en-US" sz="1500" dirty="0"/>
          </a:p>
        </p:txBody>
      </p:sp>
      <p:sp>
        <p:nvSpPr>
          <p:cNvPr id="81" name="Shape 78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FFFFFF">
              <a:alpha val="94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Text 79"/>
          <p:cNvSpPr/>
          <p:nvPr/>
        </p:nvSpPr>
        <p:spPr>
          <a:xfrm>
            <a:off x="502920" y="473659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Today: Introduction  •  Setup  •  Python Fundamentals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Today's Agenda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1508129"/>
            <a:ext cx="83210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11480" y="1508129"/>
            <a:ext cx="73152" cy="7132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66928" y="1508129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B4D8"/>
                </a:solidFill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115568" y="1581281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D40"/>
                </a:solidFill>
              </a:rPr>
              <a:t>Welcome &amp; Course Overview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15568" y="1892177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07080"/>
                </a:solidFill>
              </a:rPr>
              <a:t>Goals, structure, and what you'll build</a:t>
            </a:r>
            <a:endParaRPr lang="en-US" sz="10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0" y="1654433"/>
            <a:ext cx="420624" cy="420624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411480" y="2312801"/>
            <a:ext cx="83210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11480" y="2312801"/>
            <a:ext cx="73152" cy="71323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566928" y="2312801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A78BFA"/>
                </a:solidFill>
              </a:rPr>
              <a:t>02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1115568" y="2385953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D40"/>
                </a:solidFill>
              </a:rPr>
              <a:t>Environment Setup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1115568" y="2696849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07080"/>
                </a:solidFill>
              </a:rPr>
              <a:t>Python and VS Code</a:t>
            </a:r>
            <a:endParaRPr lang="en-US" sz="100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8160" y="2459105"/>
            <a:ext cx="420624" cy="420624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411480" y="3117473"/>
            <a:ext cx="83210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411480" y="3117473"/>
            <a:ext cx="73152" cy="71323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/>
          <p:nvPr/>
        </p:nvSpPr>
        <p:spPr>
          <a:xfrm>
            <a:off x="566928" y="3117473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2C55E"/>
                </a:solidFill>
              </a:rPr>
              <a:t>03</a:t>
            </a:r>
            <a:endParaRPr lang="en-US" sz="2200" dirty="0"/>
          </a:p>
        </p:txBody>
      </p:sp>
      <p:sp>
        <p:nvSpPr>
          <p:cNvPr id="19" name="Text 15"/>
          <p:cNvSpPr/>
          <p:nvPr/>
        </p:nvSpPr>
        <p:spPr>
          <a:xfrm>
            <a:off x="1115568" y="3190625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D40"/>
                </a:solidFill>
              </a:rPr>
              <a:t>Python Basics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1115568" y="3501521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07080"/>
                </a:solidFill>
              </a:rPr>
              <a:t>int, float, str, bool, lists</a:t>
            </a:r>
            <a:endParaRPr lang="en-US" sz="1000" dirty="0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38160" y="3263777"/>
            <a:ext cx="420624" cy="42062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2">
            <a:extLst>
              <a:ext uri="{FF2B5EF4-FFF2-40B4-BE49-F238E27FC236}">
                <a16:creationId xmlns:a16="http://schemas.microsoft.com/office/drawing/2014/main" id="{681F19B0-A45F-FBED-2D4C-27B651DA1B8D}"/>
              </a:ext>
            </a:extLst>
          </p:cNvPr>
          <p:cNvSpPr/>
          <p:nvPr/>
        </p:nvSpPr>
        <p:spPr>
          <a:xfrm>
            <a:off x="4651080" y="1143000"/>
            <a:ext cx="3852839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Course Overview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3852839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868680" y="1005840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What is this course?</a:t>
            </a:r>
            <a:endParaRPr lang="en-US" sz="11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C9B4B98-3101-E933-2806-83D6E289AA26}"/>
              </a:ext>
            </a:extLst>
          </p:cNvPr>
          <p:cNvSpPr txBox="1"/>
          <p:nvPr/>
        </p:nvSpPr>
        <p:spPr>
          <a:xfrm>
            <a:off x="640081" y="1335881"/>
            <a:ext cx="3669958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Python Programming Fundamentals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Data Processing and Analysis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Data Visualization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Object-Oriented Programming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Compartmental Models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Version Control with Git &amp; GitHub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Scientific Computing &amp; Modeling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Statistical Modeling &amp; Prediction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Introduction to Machine Learning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Classification Algorithms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6127F87-2873-FEBA-D285-19B20217E6CE}"/>
              </a:ext>
            </a:extLst>
          </p:cNvPr>
          <p:cNvSpPr txBox="1"/>
          <p:nvPr/>
        </p:nvSpPr>
        <p:spPr>
          <a:xfrm>
            <a:off x="4742522" y="1271016"/>
            <a:ext cx="3669957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Calculus for Machine Learning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Linear Algebra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PyTorch</a:t>
            </a:r>
            <a:r>
              <a:rPr lang="en-US" dirty="0"/>
              <a:t> Fundamentals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Neural Networks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Convolutional Neural Networks (CNNs)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Sequence Models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Transformers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Reinforcement Learning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AI Agents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Final Project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394B3F-5EC7-096A-EEC3-EEB09CAB1C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2">
            <a:extLst>
              <a:ext uri="{FF2B5EF4-FFF2-40B4-BE49-F238E27FC236}">
                <a16:creationId xmlns:a16="http://schemas.microsoft.com/office/drawing/2014/main" id="{739FDF04-B1EF-CFA6-5A5E-39E03401D83F}"/>
              </a:ext>
            </a:extLst>
          </p:cNvPr>
          <p:cNvSpPr/>
          <p:nvPr/>
        </p:nvSpPr>
        <p:spPr>
          <a:xfrm>
            <a:off x="4651080" y="1143000"/>
            <a:ext cx="3852839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5E475E1B-6B40-5C05-C8CC-3D9F8F943B6A}"/>
              </a:ext>
            </a:extLst>
          </p:cNvPr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7F4D38E-6877-4C9B-83D2-87C82C9BDA12}"/>
              </a:ext>
            </a:extLst>
          </p:cNvPr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History of Programming</a:t>
            </a:r>
            <a:endParaRPr lang="en-US" sz="26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EC8B4DBA-46BF-AE05-A803-2A0BE322C1BA}"/>
              </a:ext>
            </a:extLst>
          </p:cNvPr>
          <p:cNvSpPr/>
          <p:nvPr/>
        </p:nvSpPr>
        <p:spPr>
          <a:xfrm>
            <a:off x="457200" y="1143000"/>
            <a:ext cx="3852839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A0E930A0-698B-ACE7-E70E-7B11457E5730}"/>
              </a:ext>
            </a:extLst>
          </p:cNvPr>
          <p:cNvSpPr/>
          <p:nvPr/>
        </p:nvSpPr>
        <p:spPr>
          <a:xfrm>
            <a:off x="868680" y="1005840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What is this course?</a:t>
            </a:r>
            <a:endParaRPr lang="en-US" sz="11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F568F30-0DFB-0850-077B-7D7A0EB81476}"/>
              </a:ext>
            </a:extLst>
          </p:cNvPr>
          <p:cNvSpPr txBox="1"/>
          <p:nvPr/>
        </p:nvSpPr>
        <p:spPr>
          <a:xfrm>
            <a:off x="640081" y="1335881"/>
            <a:ext cx="3669958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1843 — First Algorithm</a:t>
            </a:r>
          </a:p>
          <a:p>
            <a:r>
              <a:rPr lang="en-US" sz="1600" dirty="0"/>
              <a:t>Ada Lovelace writes instructions for the Analytical Engine. </a:t>
            </a:r>
          </a:p>
          <a:p>
            <a:r>
              <a:rPr lang="en-US" sz="1600" dirty="0"/>
              <a:t>Often considered the first programmer. </a:t>
            </a:r>
          </a:p>
          <a:p>
            <a:r>
              <a:rPr lang="en-US" sz="1600" b="1" dirty="0"/>
              <a:t>1940s — Machine Code</a:t>
            </a:r>
          </a:p>
          <a:p>
            <a:r>
              <a:rPr lang="en-US" sz="1600" dirty="0"/>
              <a:t>Early computers programmed using binary and switches. </a:t>
            </a:r>
          </a:p>
          <a:p>
            <a:r>
              <a:rPr lang="en-US" sz="1600" dirty="0"/>
              <a:t>Programming was slow and difficult. </a:t>
            </a:r>
          </a:p>
          <a:p>
            <a:r>
              <a:rPr lang="en-US" sz="1600" b="1" dirty="0"/>
              <a:t>1950s–1960s — Programming Languages</a:t>
            </a:r>
          </a:p>
          <a:p>
            <a:r>
              <a:rPr lang="en-US" sz="1600" dirty="0"/>
              <a:t>FORTRAN and COBOL introduced. </a:t>
            </a:r>
          </a:p>
          <a:p>
            <a:r>
              <a:rPr lang="en-US" sz="1600" dirty="0"/>
              <a:t>Compilers allowed humans to write readable code. </a:t>
            </a:r>
          </a:p>
          <a:p>
            <a:endParaRPr lang="en-US" sz="16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E5B6F1D-1CA0-C0D4-C50C-8FD4D96FEA62}"/>
              </a:ext>
            </a:extLst>
          </p:cNvPr>
          <p:cNvSpPr txBox="1"/>
          <p:nvPr/>
        </p:nvSpPr>
        <p:spPr>
          <a:xfrm>
            <a:off x="4742522" y="1271016"/>
            <a:ext cx="3669957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1970s — Modern Software Foundations</a:t>
            </a:r>
          </a:p>
          <a:p>
            <a:r>
              <a:rPr lang="en-US" sz="1600" dirty="0"/>
              <a:t>C developed. </a:t>
            </a:r>
          </a:p>
          <a:p>
            <a:r>
              <a:rPr lang="en-US" sz="1600" dirty="0"/>
              <a:t>Influenced many modern languages. </a:t>
            </a:r>
          </a:p>
          <a:p>
            <a:r>
              <a:rPr lang="en-US" sz="1600" b="1" dirty="0"/>
              <a:t>1990s — Internet Era</a:t>
            </a:r>
          </a:p>
          <a:p>
            <a:r>
              <a:rPr lang="en-US" sz="1600" dirty="0"/>
              <a:t>Growth of websites and web applications. </a:t>
            </a:r>
          </a:p>
          <a:p>
            <a:r>
              <a:rPr lang="en-US" sz="1600" dirty="0"/>
              <a:t>HTML, JavaScript, and Java became widespread. </a:t>
            </a:r>
          </a:p>
          <a:p>
            <a:r>
              <a:rPr lang="en-US" sz="1600" b="1" dirty="0"/>
              <a:t>2010s — Data Science &amp; AI</a:t>
            </a:r>
          </a:p>
          <a:p>
            <a:r>
              <a:rPr lang="en-US" sz="1600" dirty="0"/>
              <a:t>Python becomes dominant for data analysis and machine learning.</a:t>
            </a:r>
          </a:p>
          <a:p>
            <a:r>
              <a:rPr lang="en-US" sz="1600" b="1" dirty="0"/>
              <a:t>2020s — AI-Assisted Coding</a:t>
            </a:r>
          </a:p>
          <a:p>
            <a:r>
              <a:rPr lang="en-US" sz="1600" dirty="0"/>
              <a:t>AI tools generate, explain, and debug code. </a:t>
            </a:r>
          </a:p>
          <a:p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9304166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EA4880-C665-040B-06CC-34435778C8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9FAA151-2106-6743-1F47-EA84F75B7715}"/>
              </a:ext>
            </a:extLst>
          </p:cNvPr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E767AF1-6C34-4499-4084-22DC85D82AEB}"/>
              </a:ext>
            </a:extLst>
          </p:cNvPr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Why Learn to Code</a:t>
            </a:r>
            <a:endParaRPr lang="en-US" sz="26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16F51C7B-48F6-438A-748B-3ED667B6C0F3}"/>
              </a:ext>
            </a:extLst>
          </p:cNvPr>
          <p:cNvSpPr/>
          <p:nvPr/>
        </p:nvSpPr>
        <p:spPr>
          <a:xfrm>
            <a:off x="457200" y="1143000"/>
            <a:ext cx="8046719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C52E392A-4228-4C23-5861-DB67307043D7}"/>
              </a:ext>
            </a:extLst>
          </p:cNvPr>
          <p:cNvSpPr/>
          <p:nvPr/>
        </p:nvSpPr>
        <p:spPr>
          <a:xfrm>
            <a:off x="868680" y="1005840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What is this course?</a:t>
            </a:r>
            <a:endParaRPr lang="en-US" sz="11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B2E5071-A789-81E0-989A-5AA7FC07DB6E}"/>
              </a:ext>
            </a:extLst>
          </p:cNvPr>
          <p:cNvSpPr txBox="1"/>
          <p:nvPr/>
        </p:nvSpPr>
        <p:spPr>
          <a:xfrm>
            <a:off x="868680" y="1423466"/>
            <a:ext cx="7635239" cy="29578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1. Solve Problems Systematically</a:t>
            </a:r>
          </a:p>
          <a:p>
            <a:pPr>
              <a:lnSpc>
                <a:spcPct val="150000"/>
              </a:lnSpc>
            </a:pPr>
            <a:r>
              <a:rPr lang="en-US" b="1" dirty="0"/>
              <a:t>2. Automate Repetitive Tasks</a:t>
            </a:r>
          </a:p>
          <a:p>
            <a:pPr>
              <a:lnSpc>
                <a:spcPct val="150000"/>
              </a:lnSpc>
            </a:pPr>
            <a:r>
              <a:rPr lang="en-US" b="1" dirty="0"/>
              <a:t>3. Manipulate Data</a:t>
            </a:r>
          </a:p>
          <a:p>
            <a:pPr>
              <a:lnSpc>
                <a:spcPct val="150000"/>
              </a:lnSpc>
            </a:pPr>
            <a:r>
              <a:rPr lang="en-US" b="1" dirty="0"/>
              <a:t>4. Build Things</a:t>
            </a:r>
          </a:p>
          <a:p>
            <a:pPr>
              <a:lnSpc>
                <a:spcPct val="150000"/>
              </a:lnSpc>
            </a:pPr>
            <a:r>
              <a:rPr lang="en-US" b="1" dirty="0"/>
              <a:t>5. Understand Technology</a:t>
            </a:r>
          </a:p>
          <a:p>
            <a:pPr>
              <a:lnSpc>
                <a:spcPct val="150000"/>
              </a:lnSpc>
            </a:pPr>
            <a:r>
              <a:rPr lang="en-US" b="1" dirty="0"/>
              <a:t>6. Increase Career Opportunities/Skills</a:t>
            </a:r>
          </a:p>
          <a:p>
            <a:pPr>
              <a:lnSpc>
                <a:spcPct val="150000"/>
              </a:lnSpc>
            </a:pPr>
            <a:r>
              <a:rPr lang="en-US" b="1" dirty="0"/>
              <a:t>7. Communicate with AI More Effectively</a:t>
            </a:r>
          </a:p>
        </p:txBody>
      </p:sp>
    </p:spTree>
    <p:extLst>
      <p:ext uri="{BB962C8B-B14F-4D97-AF65-F5344CB8AC3E}">
        <p14:creationId xmlns:p14="http://schemas.microsoft.com/office/powerpoint/2010/main" val="2600528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BD34CC2-D594-A2D2-F82D-6174691FD1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81CA591-21E4-4C31-D4BB-18424F9786B8}"/>
              </a:ext>
            </a:extLst>
          </p:cNvPr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68AB069-A63F-D1AF-8ACA-DE6450BE2944}"/>
              </a:ext>
            </a:extLst>
          </p:cNvPr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Why Use Anaconda</a:t>
            </a:r>
            <a:endParaRPr lang="en-US" sz="26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1293502F-4AFE-3578-02A7-F902E9D49ACF}"/>
              </a:ext>
            </a:extLst>
          </p:cNvPr>
          <p:cNvSpPr/>
          <p:nvPr/>
        </p:nvSpPr>
        <p:spPr>
          <a:xfrm>
            <a:off x="457200" y="1143000"/>
            <a:ext cx="8046719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B57AE75D-9EE3-A79E-5CB4-FABAA7C91670}"/>
              </a:ext>
            </a:extLst>
          </p:cNvPr>
          <p:cNvSpPr/>
          <p:nvPr/>
        </p:nvSpPr>
        <p:spPr>
          <a:xfrm>
            <a:off x="868680" y="1005840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What is this course?</a:t>
            </a:r>
            <a:endParaRPr lang="en-US" sz="11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AEC738A-EE91-539A-11EB-7AD431D3F50F}"/>
              </a:ext>
            </a:extLst>
          </p:cNvPr>
          <p:cNvSpPr txBox="1"/>
          <p:nvPr/>
        </p:nvSpPr>
        <p:spPr>
          <a:xfrm>
            <a:off x="640081" y="1536192"/>
            <a:ext cx="7635239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Easy setup for beginners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Anaconda comes with many scientific libraries: Python, </a:t>
            </a:r>
            <a:r>
              <a:rPr lang="en-US" sz="2000" dirty="0" err="1"/>
              <a:t>Jupyter</a:t>
            </a:r>
            <a:r>
              <a:rPr lang="en-US" sz="2000" dirty="0"/>
              <a:t> Notebook, NumPy, Pandas, SciPy, Matplotlib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Package management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Anaconda includes </a:t>
            </a:r>
            <a:r>
              <a:rPr lang="en-US" sz="2000" dirty="0" err="1"/>
              <a:t>conda</a:t>
            </a:r>
            <a:r>
              <a:rPr lang="en-US" sz="2000" dirty="0"/>
              <a:t>, which helps manage library installation, dependency conflicts, virtual environments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Consistent classroom environment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Everyone uses the same version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5994184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8342795-85E2-913C-74AC-4E9D0FDED2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4625544-71FD-F65F-327E-93D1C944284C}"/>
              </a:ext>
            </a:extLst>
          </p:cNvPr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876E710-FA9D-F120-A612-B972C78DE2CE}"/>
              </a:ext>
            </a:extLst>
          </p:cNvPr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Why Use Python</a:t>
            </a:r>
            <a:endParaRPr lang="en-US" sz="26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8E7FF98B-3147-DB48-0F3A-691F9FFE7B82}"/>
              </a:ext>
            </a:extLst>
          </p:cNvPr>
          <p:cNvSpPr/>
          <p:nvPr/>
        </p:nvSpPr>
        <p:spPr>
          <a:xfrm>
            <a:off x="457200" y="1143000"/>
            <a:ext cx="8046719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76852CBD-5130-8BBB-3AFF-44B10C656549}"/>
              </a:ext>
            </a:extLst>
          </p:cNvPr>
          <p:cNvSpPr/>
          <p:nvPr/>
        </p:nvSpPr>
        <p:spPr>
          <a:xfrm>
            <a:off x="868680" y="1005840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What is this course?</a:t>
            </a:r>
            <a:endParaRPr lang="en-US" sz="11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ECAA0A1-4A50-2B79-061F-F28B555F02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9223" y="1621104"/>
            <a:ext cx="3154695" cy="2544274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B27E7675-B316-484E-01AD-0F64DA78EA9A}"/>
              </a:ext>
            </a:extLst>
          </p:cNvPr>
          <p:cNvSpPr txBox="1"/>
          <p:nvPr/>
        </p:nvSpPr>
        <p:spPr>
          <a:xfrm>
            <a:off x="640082" y="1308192"/>
            <a:ext cx="5116142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Easy to learn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Python’s syntax is close to plain English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Dominates the AI and ML ecosystem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Most major AI frameworks use Python as their primary interface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Excellent data science libraries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Used in both research and industry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According to TIOBE, Python is the most popular programming language holding a 22.61% share in January 2026.</a:t>
            </a:r>
          </a:p>
        </p:txBody>
      </p:sp>
    </p:spTree>
    <p:extLst>
      <p:ext uri="{BB962C8B-B14F-4D97-AF65-F5344CB8AC3E}">
        <p14:creationId xmlns:p14="http://schemas.microsoft.com/office/powerpoint/2010/main" val="5221302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0A41C6B-C603-0121-6839-E16AC81F22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46999FA-DE5D-4B1C-E368-C84581FA4F17}"/>
              </a:ext>
            </a:extLst>
          </p:cNvPr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1FF6772-ABB5-877B-9FFB-767221133411}"/>
              </a:ext>
            </a:extLst>
          </p:cNvPr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Environment Setup</a:t>
            </a:r>
            <a:endParaRPr lang="en-US" sz="26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8A3EBAAC-C902-8C28-5765-C6CF91EEF4A9}"/>
              </a:ext>
            </a:extLst>
          </p:cNvPr>
          <p:cNvSpPr/>
          <p:nvPr/>
        </p:nvSpPr>
        <p:spPr>
          <a:xfrm>
            <a:off x="365760" y="960120"/>
            <a:ext cx="84124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103F51F0-77A0-B0CD-CF96-35C1B3B298EF}"/>
              </a:ext>
            </a:extLst>
          </p:cNvPr>
          <p:cNvSpPr/>
          <p:nvPr/>
        </p:nvSpPr>
        <p:spPr>
          <a:xfrm>
            <a:off x="457200" y="1115568"/>
            <a:ext cx="493776" cy="493776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495268EA-BED2-FB16-4E65-286929728999}"/>
              </a:ext>
            </a:extLst>
          </p:cNvPr>
          <p:cNvSpPr/>
          <p:nvPr/>
        </p:nvSpPr>
        <p:spPr>
          <a:xfrm>
            <a:off x="457200" y="111556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6C3DA059-CFBC-5C67-233C-0F781B82B719}"/>
              </a:ext>
            </a:extLst>
          </p:cNvPr>
          <p:cNvSpPr/>
          <p:nvPr/>
        </p:nvSpPr>
        <p:spPr>
          <a:xfrm>
            <a:off x="1097280" y="10515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D40"/>
                </a:solidFill>
              </a:rPr>
              <a:t>Install Anaconda</a:t>
            </a:r>
            <a:endParaRPr lang="en-US" sz="13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6E8438B1-68B2-4315-9760-D32A6923FA61}"/>
              </a:ext>
            </a:extLst>
          </p:cNvPr>
          <p:cNvSpPr/>
          <p:nvPr/>
        </p:nvSpPr>
        <p:spPr>
          <a:xfrm>
            <a:off x="1097280" y="1362456"/>
            <a:ext cx="7132320" cy="292608"/>
          </a:xfrm>
          <a:prstGeom prst="rect">
            <a:avLst/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E47E4306-8FF7-03CB-30B0-1D332E01287C}"/>
              </a:ext>
            </a:extLst>
          </p:cNvPr>
          <p:cNvSpPr/>
          <p:nvPr/>
        </p:nvSpPr>
        <p:spPr>
          <a:xfrm>
            <a:off x="1170432" y="1362456"/>
            <a:ext cx="7059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Download from Anaconda website (https://</a:t>
            </a:r>
            <a:r>
              <a:rPr lang="en-US" sz="1000" dirty="0" err="1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www.anaconda.com</a:t>
            </a:r>
            <a:r>
              <a:rPr lang="en-US" sz="10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/download)</a:t>
            </a:r>
            <a:endParaRPr lang="en-US" sz="100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D555C151-695A-BA70-666F-BD541B5E519E}"/>
              </a:ext>
            </a:extLst>
          </p:cNvPr>
          <p:cNvSpPr/>
          <p:nvPr/>
        </p:nvSpPr>
        <p:spPr>
          <a:xfrm>
            <a:off x="365760" y="1920240"/>
            <a:ext cx="84124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C267764B-47C3-1BBC-3977-5EF20E078B50}"/>
              </a:ext>
            </a:extLst>
          </p:cNvPr>
          <p:cNvSpPr/>
          <p:nvPr/>
        </p:nvSpPr>
        <p:spPr>
          <a:xfrm>
            <a:off x="457200" y="2075688"/>
            <a:ext cx="493776" cy="493776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6A919610-D145-D1D8-FB31-E34D1DAE3739}"/>
              </a:ext>
            </a:extLst>
          </p:cNvPr>
          <p:cNvSpPr/>
          <p:nvPr/>
        </p:nvSpPr>
        <p:spPr>
          <a:xfrm>
            <a:off x="457200" y="207568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3FAA6499-274F-C80D-257A-AE28380DEA31}"/>
              </a:ext>
            </a:extLst>
          </p:cNvPr>
          <p:cNvSpPr/>
          <p:nvPr/>
        </p:nvSpPr>
        <p:spPr>
          <a:xfrm>
            <a:off x="1097280" y="20116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1E2D40"/>
                </a:solidFill>
              </a:rPr>
              <a:t>Download VS Code</a:t>
            </a:r>
            <a:endParaRPr lang="en-US" sz="130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6B4BB889-B404-BB97-48C6-EAF4A1725647}"/>
              </a:ext>
            </a:extLst>
          </p:cNvPr>
          <p:cNvSpPr/>
          <p:nvPr/>
        </p:nvSpPr>
        <p:spPr>
          <a:xfrm>
            <a:off x="1097280" y="2322576"/>
            <a:ext cx="7132320" cy="292608"/>
          </a:xfrm>
          <a:prstGeom prst="rect">
            <a:avLst/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0F6AF1F2-37F5-71C0-1902-B7B7FF8B2B5E}"/>
              </a:ext>
            </a:extLst>
          </p:cNvPr>
          <p:cNvSpPr/>
          <p:nvPr/>
        </p:nvSpPr>
        <p:spPr>
          <a:xfrm>
            <a:off x="1170432" y="2322576"/>
            <a:ext cx="7059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search `visual studio code download` in Google (https://</a:t>
            </a:r>
            <a:r>
              <a:rPr lang="en-US" sz="1000" dirty="0" err="1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code.visualstudio.com</a:t>
            </a:r>
            <a:r>
              <a:rPr lang="en-US" sz="10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/)</a:t>
            </a:r>
            <a:endParaRPr lang="en-US" sz="1000" dirty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4730C3C2-A06D-CE3C-8F76-F2AFCF4D66E8}"/>
              </a:ext>
            </a:extLst>
          </p:cNvPr>
          <p:cNvSpPr/>
          <p:nvPr/>
        </p:nvSpPr>
        <p:spPr>
          <a:xfrm>
            <a:off x="365760" y="2880360"/>
            <a:ext cx="84124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688F1A53-1731-D0F4-4E5A-B164EC49DC6D}"/>
              </a:ext>
            </a:extLst>
          </p:cNvPr>
          <p:cNvSpPr/>
          <p:nvPr/>
        </p:nvSpPr>
        <p:spPr>
          <a:xfrm>
            <a:off x="457200" y="3035808"/>
            <a:ext cx="493776" cy="49377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9908AC3B-439D-2A07-25ED-0D11CCDFADFA}"/>
              </a:ext>
            </a:extLst>
          </p:cNvPr>
          <p:cNvSpPr/>
          <p:nvPr/>
        </p:nvSpPr>
        <p:spPr>
          <a:xfrm>
            <a:off x="457200" y="303580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05CF8C56-CACD-BE15-EF12-DD923D849F6D}"/>
              </a:ext>
            </a:extLst>
          </p:cNvPr>
          <p:cNvSpPr/>
          <p:nvPr/>
        </p:nvSpPr>
        <p:spPr>
          <a:xfrm>
            <a:off x="1097280" y="2971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1E2D40"/>
                </a:solidFill>
              </a:rPr>
              <a:t>Create folder for this class</a:t>
            </a:r>
            <a:endParaRPr lang="en-US" sz="1300" dirty="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C7C0950D-943C-4160-60E8-BEEA8B104851}"/>
              </a:ext>
            </a:extLst>
          </p:cNvPr>
          <p:cNvSpPr/>
          <p:nvPr/>
        </p:nvSpPr>
        <p:spPr>
          <a:xfrm>
            <a:off x="1097280" y="3282696"/>
            <a:ext cx="7132320" cy="292608"/>
          </a:xfrm>
          <a:prstGeom prst="rect">
            <a:avLst/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79F26F1C-42B9-B32D-951B-5090B9C2BBCB}"/>
              </a:ext>
            </a:extLst>
          </p:cNvPr>
          <p:cNvSpPr/>
          <p:nvPr/>
        </p:nvSpPr>
        <p:spPr>
          <a:xfrm>
            <a:off x="1170432" y="3282696"/>
            <a:ext cx="7059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000" dirty="0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CEBBC99C-04DF-3747-1AD0-F3EC0F0CFEAE}"/>
              </a:ext>
            </a:extLst>
          </p:cNvPr>
          <p:cNvSpPr/>
          <p:nvPr/>
        </p:nvSpPr>
        <p:spPr>
          <a:xfrm>
            <a:off x="365760" y="3840480"/>
            <a:ext cx="84124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D546F2F5-B03F-6C89-2EA3-571024491FEF}"/>
              </a:ext>
            </a:extLst>
          </p:cNvPr>
          <p:cNvSpPr/>
          <p:nvPr/>
        </p:nvSpPr>
        <p:spPr>
          <a:xfrm>
            <a:off x="457200" y="3995928"/>
            <a:ext cx="493776" cy="493776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F1323F7E-11CC-DDA8-4C63-5BF98D386A7D}"/>
              </a:ext>
            </a:extLst>
          </p:cNvPr>
          <p:cNvSpPr/>
          <p:nvPr/>
        </p:nvSpPr>
        <p:spPr>
          <a:xfrm>
            <a:off x="457200" y="399592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5D9DFFD1-5404-411A-075D-64BF135130D4}"/>
              </a:ext>
            </a:extLst>
          </p:cNvPr>
          <p:cNvSpPr/>
          <p:nvPr/>
        </p:nvSpPr>
        <p:spPr>
          <a:xfrm>
            <a:off x="1097280" y="3931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1E2D40"/>
                </a:solidFill>
              </a:rPr>
              <a:t>Open VS code, open folder and open terminal</a:t>
            </a:r>
            <a:endParaRPr lang="en-US" sz="1300" dirty="0"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52C41EDE-7DAA-0B9C-2317-49AE70E26319}"/>
              </a:ext>
            </a:extLst>
          </p:cNvPr>
          <p:cNvSpPr/>
          <p:nvPr/>
        </p:nvSpPr>
        <p:spPr>
          <a:xfrm>
            <a:off x="1097280" y="4242816"/>
            <a:ext cx="7132320" cy="292608"/>
          </a:xfrm>
          <a:prstGeom prst="rect">
            <a:avLst/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0CBCFC98-D9E1-7652-6447-CF4DC9F6BC10}"/>
              </a:ext>
            </a:extLst>
          </p:cNvPr>
          <p:cNvSpPr/>
          <p:nvPr/>
        </p:nvSpPr>
        <p:spPr>
          <a:xfrm>
            <a:off x="1170432" y="4242816"/>
            <a:ext cx="7059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2609831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57ECCC0-50BF-F943-FEEF-3506C1E8E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176AF27-22E2-BD58-2475-B8E26A3E897E}"/>
              </a:ext>
            </a:extLst>
          </p:cNvPr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F048CF2-1B95-FD67-CC0A-0E42B36FA839}"/>
              </a:ext>
            </a:extLst>
          </p:cNvPr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Environment Setup</a:t>
            </a:r>
            <a:endParaRPr lang="en-US" sz="26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17253C14-42A4-0728-06E1-ECF3AA8C768E}"/>
              </a:ext>
            </a:extLst>
          </p:cNvPr>
          <p:cNvSpPr/>
          <p:nvPr/>
        </p:nvSpPr>
        <p:spPr>
          <a:xfrm>
            <a:off x="365760" y="960120"/>
            <a:ext cx="84124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FAEF3406-12BC-481E-BA81-98254A0F5467}"/>
              </a:ext>
            </a:extLst>
          </p:cNvPr>
          <p:cNvSpPr/>
          <p:nvPr/>
        </p:nvSpPr>
        <p:spPr>
          <a:xfrm>
            <a:off x="457200" y="1115568"/>
            <a:ext cx="493776" cy="493776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A9951C3A-5973-6A4A-200F-3395DAD2CA6B}"/>
              </a:ext>
            </a:extLst>
          </p:cNvPr>
          <p:cNvSpPr/>
          <p:nvPr/>
        </p:nvSpPr>
        <p:spPr>
          <a:xfrm>
            <a:off x="457200" y="111556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5</a:t>
            </a:r>
            <a:endParaRPr lang="en-US" sz="15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01BB3380-4C2C-7AD7-3BF8-7989404A7DDC}"/>
              </a:ext>
            </a:extLst>
          </p:cNvPr>
          <p:cNvSpPr/>
          <p:nvPr/>
        </p:nvSpPr>
        <p:spPr>
          <a:xfrm>
            <a:off x="1097280" y="10515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1E2D40"/>
                </a:solidFill>
              </a:rPr>
              <a:t>Create a new virtual environment</a:t>
            </a:r>
            <a:endParaRPr lang="en-US" sz="13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38F5C592-A51A-89F5-7595-64C6A719FC8C}"/>
              </a:ext>
            </a:extLst>
          </p:cNvPr>
          <p:cNvSpPr/>
          <p:nvPr/>
        </p:nvSpPr>
        <p:spPr>
          <a:xfrm>
            <a:off x="1097280" y="1362456"/>
            <a:ext cx="7132320" cy="292608"/>
          </a:xfrm>
          <a:prstGeom prst="rect">
            <a:avLst/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33C6D172-6E69-EF5B-1838-2DE602335748}"/>
              </a:ext>
            </a:extLst>
          </p:cNvPr>
          <p:cNvSpPr/>
          <p:nvPr/>
        </p:nvSpPr>
        <p:spPr>
          <a:xfrm>
            <a:off x="1170432" y="1362456"/>
            <a:ext cx="7059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 err="1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conda</a:t>
            </a:r>
            <a:r>
              <a:rPr lang="en-US" sz="10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create -n </a:t>
            </a:r>
            <a:r>
              <a:rPr lang="en-US" sz="1000" dirty="0" err="1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myenv</a:t>
            </a:r>
            <a:r>
              <a:rPr lang="en-US" sz="10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python</a:t>
            </a:r>
            <a:endParaRPr lang="en-US" sz="100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F2B8C605-2949-5817-2E01-FE6B367659ED}"/>
              </a:ext>
            </a:extLst>
          </p:cNvPr>
          <p:cNvSpPr/>
          <p:nvPr/>
        </p:nvSpPr>
        <p:spPr>
          <a:xfrm>
            <a:off x="365760" y="1920240"/>
            <a:ext cx="84124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FE9B2D06-13A4-629C-D627-2031F542244A}"/>
              </a:ext>
            </a:extLst>
          </p:cNvPr>
          <p:cNvSpPr/>
          <p:nvPr/>
        </p:nvSpPr>
        <p:spPr>
          <a:xfrm>
            <a:off x="457200" y="2075688"/>
            <a:ext cx="493776" cy="493776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B490328C-BE3D-AAA8-3998-FCA9C6880CFC}"/>
              </a:ext>
            </a:extLst>
          </p:cNvPr>
          <p:cNvSpPr/>
          <p:nvPr/>
        </p:nvSpPr>
        <p:spPr>
          <a:xfrm>
            <a:off x="457200" y="207568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6</a:t>
            </a:r>
            <a:endParaRPr lang="en-US" sz="15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9C86175F-8707-BF28-A031-74F4ECF738EF}"/>
              </a:ext>
            </a:extLst>
          </p:cNvPr>
          <p:cNvSpPr/>
          <p:nvPr/>
        </p:nvSpPr>
        <p:spPr>
          <a:xfrm>
            <a:off x="1097280" y="20116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D40"/>
                </a:solidFill>
              </a:rPr>
              <a:t>Activate new environment </a:t>
            </a:r>
            <a:endParaRPr lang="en-US" sz="13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FB1BE748-69C3-86AD-173D-7D996CFA1E1A}"/>
              </a:ext>
            </a:extLst>
          </p:cNvPr>
          <p:cNvSpPr/>
          <p:nvPr/>
        </p:nvSpPr>
        <p:spPr>
          <a:xfrm>
            <a:off x="1170432" y="2322576"/>
            <a:ext cx="7059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000" dirty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A0F9F0FA-D59E-B446-DA30-82DB0B8FDCDB}"/>
              </a:ext>
            </a:extLst>
          </p:cNvPr>
          <p:cNvSpPr/>
          <p:nvPr/>
        </p:nvSpPr>
        <p:spPr>
          <a:xfrm>
            <a:off x="365760" y="2880360"/>
            <a:ext cx="84124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0A658E57-477B-2A43-7690-AD416E7C448F}"/>
              </a:ext>
            </a:extLst>
          </p:cNvPr>
          <p:cNvSpPr/>
          <p:nvPr/>
        </p:nvSpPr>
        <p:spPr>
          <a:xfrm>
            <a:off x="457200" y="3035808"/>
            <a:ext cx="493776" cy="49377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60B6005B-E88A-11FB-F646-F87FFACD91B5}"/>
              </a:ext>
            </a:extLst>
          </p:cNvPr>
          <p:cNvSpPr/>
          <p:nvPr/>
        </p:nvSpPr>
        <p:spPr>
          <a:xfrm>
            <a:off x="457200" y="303580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7</a:t>
            </a:r>
            <a:endParaRPr lang="en-US" sz="150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902910C0-01DA-2388-B6A8-76DB1D5CBE83}"/>
              </a:ext>
            </a:extLst>
          </p:cNvPr>
          <p:cNvSpPr/>
          <p:nvPr/>
        </p:nvSpPr>
        <p:spPr>
          <a:xfrm>
            <a:off x="1097280" y="2971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1E2D40"/>
                </a:solidFill>
              </a:rPr>
              <a:t>Installs the </a:t>
            </a:r>
            <a:r>
              <a:rPr lang="en-US" sz="1300" b="1" dirty="0" err="1">
                <a:solidFill>
                  <a:srgbClr val="1E2D40"/>
                </a:solidFill>
              </a:rPr>
              <a:t>IPython</a:t>
            </a:r>
            <a:r>
              <a:rPr lang="en-US" sz="1300" b="1" dirty="0">
                <a:solidFill>
                  <a:srgbClr val="1E2D40"/>
                </a:solidFill>
              </a:rPr>
              <a:t> kernel</a:t>
            </a:r>
            <a:endParaRPr lang="en-US" sz="1300" dirty="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F35E4812-A2B3-A0D6-2C96-CB49A629FF27}"/>
              </a:ext>
            </a:extLst>
          </p:cNvPr>
          <p:cNvSpPr/>
          <p:nvPr/>
        </p:nvSpPr>
        <p:spPr>
          <a:xfrm>
            <a:off x="1097280" y="3282696"/>
            <a:ext cx="7132320" cy="292608"/>
          </a:xfrm>
          <a:prstGeom prst="rect">
            <a:avLst/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</p:spPr>
        <p:txBody>
          <a:bodyPr/>
          <a:lstStyle/>
          <a:p>
            <a:r>
              <a:rPr lang="en-US" sz="1000" dirty="0" err="1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conda</a:t>
            </a:r>
            <a:r>
              <a:rPr lang="en-US" sz="10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install </a:t>
            </a:r>
            <a:r>
              <a:rPr lang="en-US" sz="1000" dirty="0" err="1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ipykernel</a:t>
            </a:r>
            <a:endParaRPr lang="en-US" sz="100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4098EC5C-6FE9-D0D0-0D9D-7DBF86074708}"/>
              </a:ext>
            </a:extLst>
          </p:cNvPr>
          <p:cNvSpPr/>
          <p:nvPr/>
        </p:nvSpPr>
        <p:spPr>
          <a:xfrm>
            <a:off x="1170432" y="3282696"/>
            <a:ext cx="7059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000" dirty="0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B23DAA6A-5D70-B63B-C8B6-B2A1DA080927}"/>
              </a:ext>
            </a:extLst>
          </p:cNvPr>
          <p:cNvSpPr/>
          <p:nvPr/>
        </p:nvSpPr>
        <p:spPr>
          <a:xfrm>
            <a:off x="365760" y="3840480"/>
            <a:ext cx="84124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18A48E55-FC87-47C0-0DB7-9F45CECC8DD3}"/>
              </a:ext>
            </a:extLst>
          </p:cNvPr>
          <p:cNvSpPr/>
          <p:nvPr/>
        </p:nvSpPr>
        <p:spPr>
          <a:xfrm>
            <a:off x="457200" y="3995928"/>
            <a:ext cx="493776" cy="493776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3B7879BE-5C70-51D0-F3CF-00881024531F}"/>
              </a:ext>
            </a:extLst>
          </p:cNvPr>
          <p:cNvSpPr/>
          <p:nvPr/>
        </p:nvSpPr>
        <p:spPr>
          <a:xfrm>
            <a:off x="457200" y="399592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8</a:t>
            </a:r>
            <a:endParaRPr lang="en-US" sz="1500" dirty="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AF8213D9-B741-EF10-8230-4812ED747C6A}"/>
              </a:ext>
            </a:extLst>
          </p:cNvPr>
          <p:cNvSpPr/>
          <p:nvPr/>
        </p:nvSpPr>
        <p:spPr>
          <a:xfrm>
            <a:off x="1097280" y="3931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1E2D40"/>
                </a:solidFill>
              </a:rPr>
              <a:t>Create your first </a:t>
            </a:r>
            <a:r>
              <a:rPr lang="en-US" sz="1300" b="1" dirty="0" err="1">
                <a:solidFill>
                  <a:srgbClr val="1E2D40"/>
                </a:solidFill>
              </a:rPr>
              <a:t>ipynb</a:t>
            </a:r>
            <a:r>
              <a:rPr lang="en-US" sz="1300" b="1" dirty="0">
                <a:solidFill>
                  <a:srgbClr val="1E2D40"/>
                </a:solidFill>
              </a:rPr>
              <a:t> file</a:t>
            </a:r>
            <a:endParaRPr lang="en-US" sz="1300" dirty="0"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C090A9F2-A276-F96D-92F7-3C18574F85AD}"/>
              </a:ext>
            </a:extLst>
          </p:cNvPr>
          <p:cNvSpPr/>
          <p:nvPr/>
        </p:nvSpPr>
        <p:spPr>
          <a:xfrm>
            <a:off x="1097280" y="4242816"/>
            <a:ext cx="7132320" cy="292608"/>
          </a:xfrm>
          <a:prstGeom prst="rect">
            <a:avLst/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00450DCB-38F9-8B2C-0A54-16EE4FE1C11B}"/>
              </a:ext>
            </a:extLst>
          </p:cNvPr>
          <p:cNvSpPr/>
          <p:nvPr/>
        </p:nvSpPr>
        <p:spPr>
          <a:xfrm>
            <a:off x="1170432" y="4242816"/>
            <a:ext cx="7059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000" dirty="0"/>
          </a:p>
        </p:txBody>
      </p:sp>
      <p:sp>
        <p:nvSpPr>
          <p:cNvPr id="28" name="Shape 6">
            <a:extLst>
              <a:ext uri="{FF2B5EF4-FFF2-40B4-BE49-F238E27FC236}">
                <a16:creationId xmlns:a16="http://schemas.microsoft.com/office/drawing/2014/main" id="{CF8BF2FE-491F-FE19-7BA5-30DF5D8F7170}"/>
              </a:ext>
            </a:extLst>
          </p:cNvPr>
          <p:cNvSpPr/>
          <p:nvPr/>
        </p:nvSpPr>
        <p:spPr>
          <a:xfrm>
            <a:off x="1097280" y="2304288"/>
            <a:ext cx="7132320" cy="292608"/>
          </a:xfrm>
          <a:prstGeom prst="rect">
            <a:avLst/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</p:spPr>
        <p:txBody>
          <a:bodyPr/>
          <a:lstStyle/>
          <a:p>
            <a:r>
              <a:rPr lang="en-US" sz="1000" dirty="0" err="1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conda</a:t>
            </a:r>
            <a:r>
              <a:rPr lang="en-US" sz="10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activate </a:t>
            </a:r>
            <a:r>
              <a:rPr lang="en-US" sz="1000" dirty="0" err="1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myenv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3512095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8371F5D-EE81-D429-4E98-4619A7FD53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43C4AE5-6F92-FB92-8ED9-5EBE6838DA52}"/>
              </a:ext>
            </a:extLst>
          </p:cNvPr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A122986-56A9-B5C6-8D7F-C841C2C71E43}"/>
              </a:ext>
            </a:extLst>
          </p:cNvPr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Environment Setup</a:t>
            </a:r>
            <a:endParaRPr lang="en-US" sz="26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86265D3E-84B9-A9C7-656A-4BE52A837E13}"/>
              </a:ext>
            </a:extLst>
          </p:cNvPr>
          <p:cNvSpPr/>
          <p:nvPr/>
        </p:nvSpPr>
        <p:spPr>
          <a:xfrm>
            <a:off x="365760" y="960120"/>
            <a:ext cx="84124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56236D67-ECD7-C0DE-85CE-ACDCE3E7C78D}"/>
              </a:ext>
            </a:extLst>
          </p:cNvPr>
          <p:cNvSpPr/>
          <p:nvPr/>
        </p:nvSpPr>
        <p:spPr>
          <a:xfrm>
            <a:off x="457200" y="1115568"/>
            <a:ext cx="493776" cy="493776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8E458FA5-F004-E15A-43F5-9B8CAFD02016}"/>
              </a:ext>
            </a:extLst>
          </p:cNvPr>
          <p:cNvSpPr/>
          <p:nvPr/>
        </p:nvSpPr>
        <p:spPr>
          <a:xfrm>
            <a:off x="457200" y="111556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6</a:t>
            </a:r>
            <a:endParaRPr lang="en-US" sz="15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88AC2AF1-F46C-96E4-D6CD-369A25374C72}"/>
              </a:ext>
            </a:extLst>
          </p:cNvPr>
          <p:cNvSpPr/>
          <p:nvPr/>
        </p:nvSpPr>
        <p:spPr>
          <a:xfrm>
            <a:off x="1097280" y="10515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1E2D40"/>
                </a:solidFill>
              </a:rPr>
              <a:t>Download Lecture 1 folder from Google Drive</a:t>
            </a:r>
            <a:endParaRPr lang="en-US" sz="13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B91B0363-4A28-64B6-F3ED-5B3F5661062E}"/>
              </a:ext>
            </a:extLst>
          </p:cNvPr>
          <p:cNvSpPr/>
          <p:nvPr/>
        </p:nvSpPr>
        <p:spPr>
          <a:xfrm>
            <a:off x="1097280" y="1362456"/>
            <a:ext cx="7132320" cy="292608"/>
          </a:xfrm>
          <a:prstGeom prst="rect">
            <a:avLst/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B0D4922A-AC82-2BAB-1441-01D696B0DB3B}"/>
              </a:ext>
            </a:extLst>
          </p:cNvPr>
          <p:cNvSpPr/>
          <p:nvPr/>
        </p:nvSpPr>
        <p:spPr>
          <a:xfrm>
            <a:off x="1170432" y="1362456"/>
            <a:ext cx="7059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</a:t>
            </a:r>
            <a:r>
              <a:rPr lang="en-US" sz="1000" dirty="0" err="1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drive.google.com</a:t>
            </a:r>
            <a:r>
              <a:rPr lang="en-US" sz="10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/drive/folders/1VIRmD0k-_eMySS3ZJTh2loJVaF6onveb?usp=</a:t>
            </a:r>
            <a:r>
              <a:rPr lang="en-US" sz="1000" dirty="0" err="1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drive_link</a:t>
            </a:r>
            <a:endParaRPr lang="en-US" sz="100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A0B925CA-2003-A0C3-9DDA-E78A86ABC831}"/>
              </a:ext>
            </a:extLst>
          </p:cNvPr>
          <p:cNvSpPr/>
          <p:nvPr/>
        </p:nvSpPr>
        <p:spPr>
          <a:xfrm>
            <a:off x="365760" y="1920240"/>
            <a:ext cx="84124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7480E270-6B4C-3A34-48F6-AA282AC96F25}"/>
              </a:ext>
            </a:extLst>
          </p:cNvPr>
          <p:cNvSpPr/>
          <p:nvPr/>
        </p:nvSpPr>
        <p:spPr>
          <a:xfrm>
            <a:off x="457200" y="2075688"/>
            <a:ext cx="493776" cy="493776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5C4D63A3-0368-93FE-84F2-81F4F1CCACEC}"/>
              </a:ext>
            </a:extLst>
          </p:cNvPr>
          <p:cNvSpPr/>
          <p:nvPr/>
        </p:nvSpPr>
        <p:spPr>
          <a:xfrm>
            <a:off x="457200" y="207568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6</a:t>
            </a:r>
            <a:endParaRPr lang="en-US" sz="15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0923D67A-B7DF-8A00-EF93-84B0C9640A85}"/>
              </a:ext>
            </a:extLst>
          </p:cNvPr>
          <p:cNvSpPr/>
          <p:nvPr/>
        </p:nvSpPr>
        <p:spPr>
          <a:xfrm>
            <a:off x="1097280" y="20116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D40"/>
                </a:solidFill>
              </a:rPr>
              <a:t>Save the L01 folder into the folder you created for this class</a:t>
            </a:r>
            <a:endParaRPr lang="en-US" sz="13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6029C062-5B11-BA91-9A46-9D8D8DC3F28B}"/>
              </a:ext>
            </a:extLst>
          </p:cNvPr>
          <p:cNvSpPr/>
          <p:nvPr/>
        </p:nvSpPr>
        <p:spPr>
          <a:xfrm>
            <a:off x="1170432" y="2322576"/>
            <a:ext cx="7059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000" dirty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37176DB6-6FD1-D4F5-2657-2B506577BE16}"/>
              </a:ext>
            </a:extLst>
          </p:cNvPr>
          <p:cNvSpPr/>
          <p:nvPr/>
        </p:nvSpPr>
        <p:spPr>
          <a:xfrm>
            <a:off x="365760" y="2880360"/>
            <a:ext cx="84124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67533139-3B77-71B6-CD4E-F62D1C5703E7}"/>
              </a:ext>
            </a:extLst>
          </p:cNvPr>
          <p:cNvSpPr/>
          <p:nvPr/>
        </p:nvSpPr>
        <p:spPr>
          <a:xfrm>
            <a:off x="457200" y="3035808"/>
            <a:ext cx="493776" cy="49377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C97106D5-BF4C-B752-D5E2-6F40026C301D}"/>
              </a:ext>
            </a:extLst>
          </p:cNvPr>
          <p:cNvSpPr/>
          <p:nvPr/>
        </p:nvSpPr>
        <p:spPr>
          <a:xfrm>
            <a:off x="457200" y="303580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7</a:t>
            </a:r>
            <a:endParaRPr lang="en-US" sz="150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D5B70439-B590-5F00-8DA1-050329955641}"/>
              </a:ext>
            </a:extLst>
          </p:cNvPr>
          <p:cNvSpPr/>
          <p:nvPr/>
        </p:nvSpPr>
        <p:spPr>
          <a:xfrm>
            <a:off x="1097280" y="2971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1E2D40"/>
                </a:solidFill>
              </a:rPr>
              <a:t>Check that the folder exists in vs code</a:t>
            </a:r>
            <a:endParaRPr lang="en-US" sz="1300" dirty="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1B682814-80B7-A538-C555-DD3BC873FFAC}"/>
              </a:ext>
            </a:extLst>
          </p:cNvPr>
          <p:cNvSpPr/>
          <p:nvPr/>
        </p:nvSpPr>
        <p:spPr>
          <a:xfrm>
            <a:off x="1097280" y="3282696"/>
            <a:ext cx="7132320" cy="292608"/>
          </a:xfrm>
          <a:prstGeom prst="rect">
            <a:avLst/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</p:spPr>
        <p:txBody>
          <a:bodyPr/>
          <a:lstStyle/>
          <a:p>
            <a:endParaRPr lang="en-US" sz="100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A67B5AAD-75FF-E6D1-866F-B7911457FE03}"/>
              </a:ext>
            </a:extLst>
          </p:cNvPr>
          <p:cNvSpPr/>
          <p:nvPr/>
        </p:nvSpPr>
        <p:spPr>
          <a:xfrm>
            <a:off x="1170432" y="3282696"/>
            <a:ext cx="7059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000" dirty="0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80D610AB-5548-8A5F-055E-AF377396B8D9}"/>
              </a:ext>
            </a:extLst>
          </p:cNvPr>
          <p:cNvSpPr/>
          <p:nvPr/>
        </p:nvSpPr>
        <p:spPr>
          <a:xfrm>
            <a:off x="365760" y="3840480"/>
            <a:ext cx="84124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F564EC65-C602-BB02-CCD0-5481AC2D53FB}"/>
              </a:ext>
            </a:extLst>
          </p:cNvPr>
          <p:cNvSpPr/>
          <p:nvPr/>
        </p:nvSpPr>
        <p:spPr>
          <a:xfrm>
            <a:off x="457200" y="3995928"/>
            <a:ext cx="493776" cy="493776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913E37C5-C048-0B0D-9AB5-E6F10ECD2BFD}"/>
              </a:ext>
            </a:extLst>
          </p:cNvPr>
          <p:cNvSpPr/>
          <p:nvPr/>
        </p:nvSpPr>
        <p:spPr>
          <a:xfrm>
            <a:off x="457200" y="399592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8</a:t>
            </a:r>
            <a:endParaRPr lang="en-US" sz="1500" dirty="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FC34AE74-83C4-9D1B-5D30-C820956F36B2}"/>
              </a:ext>
            </a:extLst>
          </p:cNvPr>
          <p:cNvSpPr/>
          <p:nvPr/>
        </p:nvSpPr>
        <p:spPr>
          <a:xfrm>
            <a:off x="1097280" y="3931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dirty="0"/>
              <a:t>Open the L01_intro_to_ipynb.ipynb file</a:t>
            </a:r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BD6B30DE-2A94-6CAA-3D4B-26758D56AB91}"/>
              </a:ext>
            </a:extLst>
          </p:cNvPr>
          <p:cNvSpPr/>
          <p:nvPr/>
        </p:nvSpPr>
        <p:spPr>
          <a:xfrm>
            <a:off x="1097280" y="4242816"/>
            <a:ext cx="7132320" cy="292608"/>
          </a:xfrm>
          <a:prstGeom prst="rect">
            <a:avLst/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F559DB46-E45F-BBF9-65B7-A7AA532AAE6D}"/>
              </a:ext>
            </a:extLst>
          </p:cNvPr>
          <p:cNvSpPr/>
          <p:nvPr/>
        </p:nvSpPr>
        <p:spPr>
          <a:xfrm>
            <a:off x="1170432" y="4242816"/>
            <a:ext cx="7059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000" dirty="0"/>
          </a:p>
        </p:txBody>
      </p:sp>
      <p:sp>
        <p:nvSpPr>
          <p:cNvPr id="28" name="Shape 6">
            <a:extLst>
              <a:ext uri="{FF2B5EF4-FFF2-40B4-BE49-F238E27FC236}">
                <a16:creationId xmlns:a16="http://schemas.microsoft.com/office/drawing/2014/main" id="{B000B97D-52C1-16C2-D999-67F75F3E7336}"/>
              </a:ext>
            </a:extLst>
          </p:cNvPr>
          <p:cNvSpPr/>
          <p:nvPr/>
        </p:nvSpPr>
        <p:spPr>
          <a:xfrm>
            <a:off x="1097280" y="2304288"/>
            <a:ext cx="7132320" cy="292608"/>
          </a:xfrm>
          <a:prstGeom prst="rect">
            <a:avLst/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</p:spPr>
        <p:txBody>
          <a:bodyPr/>
          <a:lstStyle/>
          <a:p>
            <a:r>
              <a:rPr lang="en-US" sz="1000" dirty="0" err="1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conda</a:t>
            </a:r>
            <a:r>
              <a:rPr lang="en-US" sz="10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activate </a:t>
            </a:r>
            <a:r>
              <a:rPr lang="en-US" sz="1000" dirty="0" err="1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myenv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5386792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23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What's Next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5943600" cy="804672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078992"/>
            <a:ext cx="73152" cy="8046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117043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</a:rPr>
              <a:t>Class 2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1463040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More on Python fundamentals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084832"/>
            <a:ext cx="5943600" cy="804672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57200" y="2084832"/>
            <a:ext cx="73152" cy="80467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0080" y="21762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78BFA"/>
                </a:solidFill>
              </a:rPr>
              <a:t>Class 3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2468880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Python practice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090672"/>
            <a:ext cx="5943600" cy="804672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57200" y="3090672"/>
            <a:ext cx="73152" cy="80467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0080" y="31821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C55E"/>
                </a:solidFill>
              </a:rPr>
              <a:t>Class 4 &amp; 5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3474720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FFFFFF"/>
                </a:solidFill>
              </a:rPr>
              <a:t>Data visualization with </a:t>
            </a:r>
            <a:r>
              <a:rPr lang="en-US" sz="1200" dirty="0" err="1">
                <a:solidFill>
                  <a:srgbClr val="FFFFFF"/>
                </a:solidFill>
              </a:rPr>
              <a:t>pyplot</a:t>
            </a:r>
            <a:r>
              <a:rPr lang="en-US" sz="1200" dirty="0">
                <a:solidFill>
                  <a:srgbClr val="FFFFFF"/>
                </a:solidFill>
              </a:rPr>
              <a:t>, matplotlib &amp; seaborn</a:t>
            </a:r>
            <a:endParaRPr lang="en-US" sz="1200" dirty="0"/>
          </a:p>
        </p:txBody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1645920"/>
            <a:ext cx="1554480" cy="1554480"/>
          </a:xfrm>
          <a:prstGeom prst="rect">
            <a:avLst/>
          </a:prstGeom>
        </p:spPr>
      </p:pic>
      <p:sp>
        <p:nvSpPr>
          <p:cNvPr id="20" name="Shape 10">
            <a:extLst>
              <a:ext uri="{FF2B5EF4-FFF2-40B4-BE49-F238E27FC236}">
                <a16:creationId xmlns:a16="http://schemas.microsoft.com/office/drawing/2014/main" id="{6CAC58D7-03B3-49A1-A68D-7DDE8EE6AE07}"/>
              </a:ext>
            </a:extLst>
          </p:cNvPr>
          <p:cNvSpPr/>
          <p:nvPr/>
        </p:nvSpPr>
        <p:spPr>
          <a:xfrm>
            <a:off x="457200" y="4059812"/>
            <a:ext cx="5943600" cy="804672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1">
            <a:extLst>
              <a:ext uri="{FF2B5EF4-FFF2-40B4-BE49-F238E27FC236}">
                <a16:creationId xmlns:a16="http://schemas.microsoft.com/office/drawing/2014/main" id="{A8F6A18A-53CE-1C69-AF13-083368BC66FC}"/>
              </a:ext>
            </a:extLst>
          </p:cNvPr>
          <p:cNvSpPr/>
          <p:nvPr/>
        </p:nvSpPr>
        <p:spPr>
          <a:xfrm>
            <a:off x="457200" y="4059812"/>
            <a:ext cx="73152" cy="80467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2700">
            <a:solidFill>
              <a:schemeClr val="accent4">
                <a:lumMod val="60000"/>
                <a:lumOff val="40000"/>
              </a:schemeClr>
            </a:solidFill>
            <a:prstDash val="solid"/>
          </a:ln>
        </p:spPr>
        <p:txBody>
          <a:bodyPr/>
          <a:lstStyle/>
          <a:p>
            <a:endParaRPr lang="en-US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22" name="Text 12">
            <a:extLst>
              <a:ext uri="{FF2B5EF4-FFF2-40B4-BE49-F238E27FC236}">
                <a16:creationId xmlns:a16="http://schemas.microsoft.com/office/drawing/2014/main" id="{9F973CDB-08C7-2FDB-CC65-F40E7D4DA32D}"/>
              </a:ext>
            </a:extLst>
          </p:cNvPr>
          <p:cNvSpPr/>
          <p:nvPr/>
        </p:nvSpPr>
        <p:spPr>
          <a:xfrm>
            <a:off x="640080" y="41512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Class 6</a:t>
            </a:r>
            <a:endParaRPr lang="en-US" sz="11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3" name="Text 13">
            <a:extLst>
              <a:ext uri="{FF2B5EF4-FFF2-40B4-BE49-F238E27FC236}">
                <a16:creationId xmlns:a16="http://schemas.microsoft.com/office/drawing/2014/main" id="{CD605F04-2269-1037-3313-4A843E983415}"/>
              </a:ext>
            </a:extLst>
          </p:cNvPr>
          <p:cNvSpPr/>
          <p:nvPr/>
        </p:nvSpPr>
        <p:spPr>
          <a:xfrm>
            <a:off x="640080" y="4443860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FFFFFF"/>
                </a:solidFill>
              </a:rPr>
              <a:t>Object Oriented Programing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208</TotalTime>
  <Words>658</Words>
  <Application>Microsoft Macintosh PowerPoint</Application>
  <PresentationFormat>On-screen Show (16:9)</PresentationFormat>
  <Paragraphs>145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 to Python &amp; ML – Class 1</dc:title>
  <dc:subject>PptxGenJS Presentation</dc:subject>
  <dc:creator>PptxGenJS</dc:creator>
  <cp:lastModifiedBy>Wang, Yihan</cp:lastModifiedBy>
  <cp:revision>8</cp:revision>
  <dcterms:created xsi:type="dcterms:W3CDTF">2026-05-30T19:06:06Z</dcterms:created>
  <dcterms:modified xsi:type="dcterms:W3CDTF">2026-06-08T04:26:40Z</dcterms:modified>
</cp:coreProperties>
</file>