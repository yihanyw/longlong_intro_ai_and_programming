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7" r:id="rId2"/>
    <p:sldId id="259" r:id="rId3"/>
    <p:sldId id="260" r:id="rId4"/>
    <p:sldId id="258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99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47"/>
    <p:restoredTop sz="94670"/>
  </p:normalViewPr>
  <p:slideViewPr>
    <p:cSldViewPr snapToGrid="0">
      <p:cViewPr>
        <p:scale>
          <a:sx n="85" d="100"/>
          <a:sy n="85" d="100"/>
        </p:scale>
        <p:origin x="33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23D11D-D882-3E49-A377-14ACE7BE6B7B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0A2123-6AD4-8040-8586-5676D2311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76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B8132-A694-258C-B71E-333069258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8F004-B7F8-3245-2BD4-A98AEB039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67159-62C1-3186-6745-214923647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72E6E-9D5C-B587-27AF-551DBFC1A9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58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94E93-8F7E-00BF-9B54-A59FB7E9E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9993A-D886-465E-7E1A-6F008C83B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09DA22-0F98-4B9A-89F5-E746F6A90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EBC8A-2A7D-845D-1372-E801290C7F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430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E70DB-A208-C40C-010E-3BD4821F1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04D62-3714-98B1-8BFB-3DB5CC749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E71A02-E6FE-3EFB-713E-4DEF14126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C940C-2771-C729-7B5B-E73B62D525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80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0FE57-4F11-6FFE-C2EC-A56141261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DF765-5F4D-4A60-D841-17EDAA79C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3B839-8407-AABF-6FBB-9CDBC1275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4532A-0D2D-99AF-E870-6888933890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84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6ABF7-B4D5-D565-8D7E-7B3AC5017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6E8F0-2F86-029D-EBC2-B49EC2D86F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2C7BB6-5B0D-29D8-3445-86A75BC4C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37132-40C5-9570-4DF8-768188A6AE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70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74E78-A2F8-4D7A-B2BB-FA3C59E98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38B99-A559-9416-C335-828E573F4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47397-223A-FC69-3251-4289DFBDC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DD010-657B-8008-85F1-2CD20554CA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273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D9590-07C7-606C-DC32-CF4174A2E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37F2B0-D274-EF31-DF1E-C65A7FBD6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9B46C-7742-1703-8E93-5B246B76E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EA615-8D0C-F5C9-A70E-EF9C6841F5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1395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A0C70-6236-87F3-0821-B93D2C3F1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B12F06-50D6-4994-8E45-622ACBD8B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C5D8A4-BD6A-632C-30CE-620B16270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AD1F5-E7DC-86E5-87D7-0924C2C48C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426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C064F-F2AE-1DF7-0984-FC1FF847B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0F465-71B5-1553-C86E-C42125166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943908-B140-86B6-7FE8-7223A9B79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E8CE5-1ADC-E0C5-1B8A-C2B667BA7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15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5FBAB-7E01-268E-E599-436A9EBD5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79E415-12CB-D826-7299-BF61CFB70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98978-1A72-5581-0724-BD4C9D680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DEB5E-6635-5C7D-6D32-DA8B25485E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290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354F2-7C4F-0159-A484-545D08114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0CFBD8-AF6E-C81D-2C3D-DDDA62029D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3D0C5A-0F96-A7DE-5C17-EEC87607D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E41CE-5604-0B4E-C94A-88238EEB50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162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7C062-463B-6704-3DAC-4B00B06E9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5C1E3A-7D2D-BFCF-2C54-AE9C33F86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24BB8-8DA8-122B-9ECD-B55A881AEC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7F444-8D6A-D0B0-90DD-ED7134911D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326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ED920-E7AB-F182-D5EC-C23805175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233531-6D7C-7BBF-029B-F9C982D4A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33CC9-AFB3-DFD2-72D5-D49455774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C9E44-95A7-4519-779A-4E21FD1662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395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C6279-DA32-1F22-0E91-F675BBD75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91C6-AE38-6277-C669-45517C1BB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E56B8-3B29-9AA3-D9F5-3F4292C20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DFF95-9F64-BE11-3D68-45EA1DA758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70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D3BB6-1C0B-B046-BBE2-56EFB9D3D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D4C75F-548D-FAA9-31C7-E84F352C7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84923C-69AB-8461-769C-8E6CD1A44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7CD12-D82F-E8F3-1E70-428D662BFE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981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53D4A-8F0F-F6E8-05C8-554B279BB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752772-3893-B15F-FC78-ED45F1864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25604F-0990-FC7A-63AC-193D0A346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A4774-56C1-ED5A-46E3-A4978A2835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796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B05F4-CE32-3B79-E393-C904DE5D5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4A4BEF-3821-D820-B3CE-C934308DE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28D03A-54D1-E248-EEF6-E39BBF7F6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D0047-8953-311D-6E0C-4F2981F4CF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5058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E54BD-9226-5F21-03B0-B07E6A16F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47F40-51AE-1D19-8ADD-941293763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2059AB-CBE9-5D8F-91CD-86C360045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48BAE-CAB5-4431-A682-44DFFB94AA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5464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4CF36-A1CE-814A-5F2A-C028084DB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5E5639-076B-C3D2-C12A-8B43752DD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3336C-7B6C-A88C-9223-1218CB085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F5A10-13BC-58CC-78BA-3C54F68ADC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039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9AF07-8EDE-2D9A-0623-7BBAB2968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D9B063-C049-C959-ADFE-C41B6A550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991EE-D9E0-80C5-9278-E706DAC35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2ACEB-2F58-E5E0-9E7B-03082DA721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486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F3844-0E90-0DF2-8608-C51342535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A4D50-F268-F241-9747-D490B3524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314156-BB7A-173F-DA98-6903C15C7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624ED-CDE3-F00B-805F-1CC80DE8D2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865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F7BDD-62A3-14C6-D881-34F2F3674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1740D-0D01-BFF2-60F9-E726B4993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9E0459-93DE-48B6-8F8E-C41D32516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1D287-0B84-F909-DB4E-7B2AF94056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987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F10EE-160E-0158-D6E9-4039F3342A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D518B3-8AC9-DBB0-BB7B-001C1596B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FE99F-3308-D57F-82AB-D888C1B19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19ECB-91B2-0348-AE38-8E8FCDAA9938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C632E-2E63-DFFF-99FA-9064E0E2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903C2-1858-1CB9-8617-065FA7662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4668-21E1-4A47-819B-65B62A52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38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B4AC-6792-82A6-B7BE-F6B65E773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670AF-8E4D-04B7-1F0B-F6BAB4464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770CE-84DD-8EC8-C7B9-C964ACEC2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19ECB-91B2-0348-AE38-8E8FCDAA9938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4ED77-65F4-D9D0-C514-50C4F5A6F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CECE5-44D2-302C-38AC-F8472A9FE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4668-21E1-4A47-819B-65B62A52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64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8EB00-1F66-244E-8928-0A8F125C2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D04D5-E4A8-67B2-21BB-773C93A6E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57CAF-9FF9-E3DE-B538-E0F02E5F2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19ECB-91B2-0348-AE38-8E8FCDAA9938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707E8-A4D0-B598-9F27-B642FB08A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6786E-849B-2EB7-635C-7369BC50F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4668-21E1-4A47-819B-65B62A52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24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91974-0890-7B5C-C910-01097FD85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937C0-5EEB-2B88-393B-8B3C701A3B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0E991-F089-F417-A2DA-6D5A66505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2C63A-C055-F62E-831E-D4C98C5E5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19ECB-91B2-0348-AE38-8E8FCDAA9938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E36F7-FE91-5B17-4B77-3E8F4CF7D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F21A73-2B95-7C96-BE4A-4F9ACE47A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4668-21E1-4A47-819B-65B62A52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17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16F89-DB6F-6707-755C-2F7DD4A2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95AFE-49E0-F44B-A63F-3FFCBA90F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AADF7-E86B-3992-7A2F-F4EF8FE3C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60FC46-05B4-D077-BF9A-EC4103D76C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5B790A-38F8-6554-5135-A54516D86F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787E3E-9FBF-565E-6559-96B167F51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19ECB-91B2-0348-AE38-8E8FCDAA9938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E3A6BC-5FF6-838C-8DF7-AEC65BFE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F143C6-BF08-BA19-22DE-241AE5385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4668-21E1-4A47-819B-65B62A52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70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A0E5D-8A46-3205-4F81-42FD0DB33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76D357-A485-408E-513C-3BF6BD155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19ECB-91B2-0348-AE38-8E8FCDAA9938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261F4-15A2-2774-EAF9-852A66613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8EAF84-E084-2EB3-3862-EDA2B21E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4668-21E1-4A47-819B-65B62A52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0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9077DB-E736-339A-C608-B98B1B7A0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19ECB-91B2-0348-AE38-8E8FCDAA9938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997D7F-697F-FACC-3DE8-341CB12D3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7CCEC-CBE3-BAF6-8D0D-587C8A05B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4668-21E1-4A47-819B-65B62A52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93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54A40-DAEC-6909-F6A4-A302F51AF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D5C98-1101-E534-CB39-7A1476D3C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81024-A728-07CE-1358-6B659FC47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AEBDE-DD80-7693-0760-66F15D3FC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19ECB-91B2-0348-AE38-8E8FCDAA9938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0CF26-B31C-5861-918A-36E1DC945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476FB-4F43-0590-889A-96A112A48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4668-21E1-4A47-819B-65B62A52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12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891C-05E0-2488-300B-06B264AF1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B7C600-E3F3-A696-37CC-CCCF8898A3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737B4-20E8-B588-9665-FA2AABD27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5A7AEE-EE00-AA5D-95E1-937C769D1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19ECB-91B2-0348-AE38-8E8FCDAA9938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95DC0-EB38-73BA-5EE3-89B00A05D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D6CA6-E18F-C40D-9C99-518038819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4668-21E1-4A47-819B-65B62A52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65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58511-0B26-72B2-3214-6CA93E4C4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54869-6073-60B3-C4D8-61B8149FC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9C96F-8CCE-DE48-99D0-B74B2F44E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19ECB-91B2-0348-AE38-8E8FCDAA9938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5700-22FB-4276-D14A-02FD29895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012CF-8B65-757F-A0BE-96C21AE3C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4668-21E1-4A47-819B-65B62A52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746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9E615A-8EB4-38A7-F8A1-F5F87C03A2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AA20B-399B-673A-6F2A-1EF36FC44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275D7-D3E7-4B0C-F2A9-186A8320F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19ECB-91B2-0348-AE38-8E8FCDAA9938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7AF65-E373-AC23-407F-DEB382BDA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F5AD5-ABB0-AB9B-1D9D-E9D37A8D7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4668-21E1-4A47-819B-65B62A52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22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4653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9BD910-1543-B12A-5B8F-A5FEF761B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281FB-EAD6-1B39-13A6-871DC1E10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98A24-42D7-36EE-23EA-5ADDA7B231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719ECB-91B2-0348-AE38-8E8FCDAA9938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DB845-3FCC-009B-94D0-9401B9D59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C5C6E-DB1B-1718-3E62-AFCC10A2AF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AA4668-21E1-4A47-819B-65B62A52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251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53440" y="2438400"/>
            <a:ext cx="825860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Predictions Using Data</a:t>
            </a:r>
            <a:endParaRPr lang="en-US" sz="7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53440" y="5730240"/>
            <a:ext cx="1463040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53440" y="5913120"/>
            <a:ext cx="6096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</a:t>
            </a:r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C6455D-BEA8-B501-3EF8-8926E7C6F3B4}"/>
              </a:ext>
            </a:extLst>
          </p:cNvPr>
          <p:cNvSpPr/>
          <p:nvPr/>
        </p:nvSpPr>
        <p:spPr>
          <a:xfrm rot="2295744">
            <a:off x="2850777" y="-834853"/>
            <a:ext cx="13682546" cy="1669709"/>
          </a:xfrm>
          <a:prstGeom prst="rect">
            <a:avLst/>
          </a:prstGeom>
          <a:solidFill>
            <a:srgbClr val="1B998B">
              <a:alpha val="19719"/>
            </a:srgbClr>
          </a:solidFill>
          <a:ln>
            <a:solidFill>
              <a:srgbClr val="1B99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D6FFCE-3E76-392E-101E-917D7D7F372A}"/>
              </a:ext>
            </a:extLst>
          </p:cNvPr>
          <p:cNvSpPr/>
          <p:nvPr/>
        </p:nvSpPr>
        <p:spPr>
          <a:xfrm rot="2295744">
            <a:off x="2546567" y="430039"/>
            <a:ext cx="13682546" cy="1669709"/>
          </a:xfrm>
          <a:prstGeom prst="rect">
            <a:avLst/>
          </a:prstGeom>
          <a:solidFill>
            <a:srgbClr val="1B998B">
              <a:alpha val="19719"/>
            </a:srgbClr>
          </a:solidFill>
          <a:ln>
            <a:solidFill>
              <a:srgbClr val="1B99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156ED-76FC-4E6F-D36E-A7E54E64C60A}"/>
              </a:ext>
            </a:extLst>
          </p:cNvPr>
          <p:cNvSpPr/>
          <p:nvPr/>
        </p:nvSpPr>
        <p:spPr>
          <a:xfrm rot="2295744">
            <a:off x="2270773" y="1131079"/>
            <a:ext cx="13682546" cy="1669709"/>
          </a:xfrm>
          <a:prstGeom prst="rect">
            <a:avLst/>
          </a:prstGeom>
          <a:solidFill>
            <a:srgbClr val="1B998B">
              <a:alpha val="19719"/>
            </a:srgbClr>
          </a:solidFill>
          <a:ln>
            <a:solidFill>
              <a:srgbClr val="1B99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236FED-CBAE-5B79-8E03-A50419965BB5}"/>
              </a:ext>
            </a:extLst>
          </p:cNvPr>
          <p:cNvSpPr/>
          <p:nvPr/>
        </p:nvSpPr>
        <p:spPr>
          <a:xfrm rot="2295744">
            <a:off x="-5987833" y="6981752"/>
            <a:ext cx="13682546" cy="1669709"/>
          </a:xfrm>
          <a:prstGeom prst="rect">
            <a:avLst/>
          </a:prstGeom>
          <a:solidFill>
            <a:srgbClr val="1B998B">
              <a:alpha val="19719"/>
            </a:srgbClr>
          </a:solidFill>
          <a:ln>
            <a:solidFill>
              <a:srgbClr val="1B99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2EFE8-1127-66EB-A47C-E0851D61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44AE00-4CCB-95D0-92B0-52FF6B20C821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74A959-B39A-8175-BA4E-7240DDBF8442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5518046-38F5-7FF7-5EFF-34A54C8D1815}"/>
              </a:ext>
            </a:extLst>
          </p:cNvPr>
          <p:cNvSpPr/>
          <p:nvPr/>
        </p:nvSpPr>
        <p:spPr>
          <a:xfrm>
            <a:off x="548640" y="1584959"/>
            <a:ext cx="11048628" cy="314420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1771F92-2EFC-F0D5-859B-78430E89EABE}"/>
              </a:ext>
            </a:extLst>
          </p:cNvPr>
          <p:cNvSpPr/>
          <p:nvPr/>
        </p:nvSpPr>
        <p:spPr>
          <a:xfrm>
            <a:off x="792480" y="170688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B481919-6CE1-737A-2BD7-782392C7DE49}"/>
              </a:ext>
            </a:extLst>
          </p:cNvPr>
          <p:cNvSpPr/>
          <p:nvPr/>
        </p:nvSpPr>
        <p:spPr>
          <a:xfrm>
            <a:off x="863848" y="2111299"/>
            <a:ext cx="10607040" cy="24035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/>
              <a:t>Regression</a:t>
            </a:r>
            <a:r>
              <a:rPr lang="en-US" dirty="0"/>
              <a:t> is the process of finding a mathematical relationship between variables so that we can:</a:t>
            </a:r>
          </a:p>
          <a:p>
            <a:r>
              <a:rPr lang="en-US" dirty="0"/>
              <a:t>- Understand the relationship (e.g., how does density change with altitude?)</a:t>
            </a:r>
          </a:p>
          <a:p>
            <a:r>
              <a:rPr lang="en-US" dirty="0"/>
              <a:t>- Make predictions for new values of x</a:t>
            </a:r>
          </a:p>
          <a:p>
            <a:endParaRPr lang="en-US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 this notebook, we will explore how to use data to make predictions. </a:t>
            </a:r>
          </a:p>
          <a:p>
            <a:endParaRPr lang="en-US" dirty="0"/>
          </a:p>
          <a:p>
            <a:r>
              <a:rPr lang="en-US" dirty="0"/>
              <a:t>We will start out using a </a:t>
            </a:r>
            <a:r>
              <a:rPr lang="en-US" b="1" dirty="0"/>
              <a:t>line of best fit</a:t>
            </a:r>
            <a:r>
              <a:rPr lang="en-US" dirty="0"/>
              <a:t> to make predictions. This is called </a:t>
            </a:r>
            <a:r>
              <a:rPr lang="en-US" b="1" dirty="0"/>
              <a:t>linear fitting</a:t>
            </a:r>
            <a:r>
              <a:rPr lang="en-US" dirty="0"/>
              <a:t> ( or simple linear regression).</a:t>
            </a:r>
          </a:p>
        </p:txBody>
      </p:sp>
    </p:spTree>
    <p:extLst>
      <p:ext uri="{BB962C8B-B14F-4D97-AF65-F5344CB8AC3E}">
        <p14:creationId xmlns:p14="http://schemas.microsoft.com/office/powerpoint/2010/main" val="2115901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F650F-8BAB-6514-2301-9CFB70055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21DAC58-C9E1-AF73-664C-2178AE1DAB86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0049B11-DA25-9812-5456-757704D7B976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r>
              <a:rPr lang="zh-CN" alt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4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69F4E08-BF5A-F7C8-4A4C-D15BB24C6D63}"/>
              </a:ext>
            </a:extLst>
          </p:cNvPr>
          <p:cNvSpPr/>
          <p:nvPr/>
        </p:nvSpPr>
        <p:spPr>
          <a:xfrm>
            <a:off x="548640" y="1584959"/>
            <a:ext cx="11048628" cy="2228757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0638352-0911-72CC-725B-41201023BD12}"/>
              </a:ext>
            </a:extLst>
          </p:cNvPr>
          <p:cNvSpPr/>
          <p:nvPr/>
        </p:nvSpPr>
        <p:spPr>
          <a:xfrm>
            <a:off x="792480" y="170688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</a:t>
            </a:r>
            <a:endParaRPr lang="en-US" sz="2000" dirty="0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055B6AED-762B-F462-110E-288133F580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266485"/>
              </p:ext>
            </p:extLst>
          </p:nvPr>
        </p:nvGraphicFramePr>
        <p:xfrm>
          <a:off x="548640" y="4006860"/>
          <a:ext cx="11048628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19750">
                  <a:extLst>
                    <a:ext uri="{9D8B030D-6E8A-4147-A177-3AD203B41FA5}">
                      <a16:colId xmlns:a16="http://schemas.microsoft.com/office/drawing/2014/main" val="3728944580"/>
                    </a:ext>
                  </a:extLst>
                </a:gridCol>
                <a:gridCol w="8028878">
                  <a:extLst>
                    <a:ext uri="{9D8B030D-6E8A-4147-A177-3AD203B41FA5}">
                      <a16:colId xmlns:a16="http://schemas.microsoft.com/office/drawing/2014/main" val="19300099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Term</a:t>
                      </a:r>
                    </a:p>
                  </a:txBody>
                  <a:tcPr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>
                    <a:solidFill>
                      <a:srgbClr val="1B99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113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Independent variable (x)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variable you control or observe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166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Dependent variable (y)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variable you are trying to predict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369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Parameters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constants in the model (m, b, a, </a:t>
                      </a:r>
                      <a:r>
                        <a:rPr lang="el-G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β0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l-G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β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that are adjusted during fitting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750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Residual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difference between observed and predicted values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020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Least Squares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method of minimizing the sum of squared residuals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947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R²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score from 0–1 measuring how well the model fits the data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821519"/>
                  </a:ext>
                </a:extLst>
              </a:tr>
            </a:tbl>
          </a:graphicData>
        </a:graphic>
      </p:graphicFrame>
      <p:pic>
        <p:nvPicPr>
          <p:cNvPr id="8" name="Picture 7" descr="Regression analysis - Wikipedia">
            <a:extLst>
              <a:ext uri="{FF2B5EF4-FFF2-40B4-BE49-F238E27FC236}">
                <a16:creationId xmlns:a16="http://schemas.microsoft.com/office/drawing/2014/main" id="{69E3FCBA-2678-A3AF-E721-95BBB7B01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460" y="1428760"/>
            <a:ext cx="3136900" cy="2578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9F16E5-5E7A-0714-1B89-8209C953EA1E}"/>
              </a:ext>
            </a:extLst>
          </p:cNvPr>
          <p:cNvSpPr txBox="1"/>
          <p:nvPr/>
        </p:nvSpPr>
        <p:spPr>
          <a:xfrm>
            <a:off x="914400" y="2133600"/>
            <a:ext cx="104155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linear regression, we are trying to fit the data with a  classic slope-intercept equation:</a:t>
            </a:r>
          </a:p>
          <a:p>
            <a:r>
              <a:rPr lang="en-US" dirty="0">
                <a:solidFill>
                  <a:srgbClr val="1B998B"/>
                </a:solidFill>
              </a:rPr>
              <a:t>	y = mx + b</a:t>
            </a:r>
          </a:p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	y= β0​ + β1 ​x </a:t>
            </a:r>
            <a:r>
              <a:rPr lang="en-US" dirty="0"/>
              <a:t>or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y​= a + b x</a:t>
            </a:r>
          </a:p>
          <a:p>
            <a:r>
              <a:rPr lang="en-US" dirty="0"/>
              <a:t>They mean the exact same thing: a slope and a y-intercept</a:t>
            </a:r>
          </a:p>
        </p:txBody>
      </p:sp>
    </p:spTree>
    <p:extLst>
      <p:ext uri="{BB962C8B-B14F-4D97-AF65-F5344CB8AC3E}">
        <p14:creationId xmlns:p14="http://schemas.microsoft.com/office/powerpoint/2010/main" val="129952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r>
              <a:rPr lang="zh-CN" alt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Future Trends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1399520" y="304800"/>
            <a:ext cx="512064" cy="51206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48640" y="1584959"/>
            <a:ext cx="4876800" cy="468725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792480" y="170688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C087DA-3B00-E84F-B660-D3AB16C4C24B}"/>
              </a:ext>
            </a:extLst>
          </p:cNvPr>
          <p:cNvSpPr txBox="1"/>
          <p:nvPr/>
        </p:nvSpPr>
        <p:spPr>
          <a:xfrm>
            <a:off x="1042988" y="2314575"/>
            <a:ext cx="390048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Imagine you are running a business. You have collected data on how much money was spent on advertising and the corresponding sales figures each month.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Key question:</a:t>
            </a:r>
            <a:r>
              <a:rPr lang="en-US" dirty="0"/>
              <a:t> If you increase your advertising budget, can you </a:t>
            </a:r>
            <a:r>
              <a:rPr lang="en-US" i="1" dirty="0"/>
              <a:t>predict</a:t>
            </a:r>
            <a:r>
              <a:rPr lang="en-US" dirty="0"/>
              <a:t> how much your sales will increase?</a:t>
            </a:r>
          </a:p>
          <a:p>
            <a:endParaRPr lang="en-US" dirty="0"/>
          </a:p>
          <a:p>
            <a:r>
              <a:rPr lang="en-US" dirty="0"/>
              <a:t>Let's start by plotting the data to look for a trend.</a:t>
            </a:r>
          </a:p>
          <a:p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E5BE802-5C27-38C1-FB89-E3D582DD94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1"/>
          <a:stretch>
            <a:fillRect/>
          </a:stretch>
        </p:blipFill>
        <p:spPr>
          <a:xfrm>
            <a:off x="5720006" y="1661636"/>
            <a:ext cx="6052601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F5653-A812-CD27-ACD9-9AAA1A224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BBBAA68-FA20-E823-D8DC-795B62B86B5E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7AF152B-1555-1FFC-D012-403D4E86A0FF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Future Trends</a:t>
            </a:r>
            <a:endParaRPr lang="en-US" sz="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C53E4F0-0BF6-D917-6705-B4816C14CE12}"/>
              </a:ext>
            </a:extLst>
          </p:cNvPr>
          <p:cNvSpPr/>
          <p:nvPr/>
        </p:nvSpPr>
        <p:spPr>
          <a:xfrm>
            <a:off x="11399520" y="304800"/>
            <a:ext cx="512064" cy="51206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E66BAFD-07AA-E90A-2695-BA196E39FC2C}"/>
              </a:ext>
            </a:extLst>
          </p:cNvPr>
          <p:cNvSpPr/>
          <p:nvPr/>
        </p:nvSpPr>
        <p:spPr>
          <a:xfrm>
            <a:off x="548640" y="1584959"/>
            <a:ext cx="4876800" cy="491209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B0D3A57-5434-F191-734D-C907E4D64FA4}"/>
              </a:ext>
            </a:extLst>
          </p:cNvPr>
          <p:cNvSpPr/>
          <p:nvPr/>
        </p:nvSpPr>
        <p:spPr>
          <a:xfrm>
            <a:off x="792480" y="170688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667C61-80DA-BDD7-1FB2-90956D7C4E71}"/>
              </a:ext>
            </a:extLst>
          </p:cNvPr>
          <p:cNvSpPr txBox="1"/>
          <p:nvPr/>
        </p:nvSpPr>
        <p:spPr>
          <a:xfrm>
            <a:off x="1042988" y="2314575"/>
            <a:ext cx="390048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Looking at the scatter plot above:</a:t>
            </a:r>
            <a:br>
              <a:rPr lang="en-US" dirty="0"/>
            </a:br>
            <a:endParaRPr lang="en-US" dirty="0"/>
          </a:p>
          <a:p>
            <a:r>
              <a:rPr lang="en-US" dirty="0"/>
              <a:t>1. Does there appear to be a relationship between advertising spend and sales?</a:t>
            </a:r>
          </a:p>
          <a:p>
            <a:endParaRPr lang="en-US" dirty="0"/>
          </a:p>
          <a:p>
            <a:r>
              <a:rPr lang="en-US" dirty="0"/>
              <a:t>2. As advertising increases, what happens to sales?</a:t>
            </a:r>
          </a:p>
          <a:p>
            <a:endParaRPr lang="en-US" dirty="0"/>
          </a:p>
          <a:p>
            <a:r>
              <a:rPr lang="en-US" dirty="0"/>
              <a:t>3. If you spent </a:t>
            </a:r>
            <a:r>
              <a:rPr lang="en-US" b="1" dirty="0"/>
              <a:t>$11,000</a:t>
            </a:r>
            <a:r>
              <a:rPr lang="en-US" dirty="0"/>
              <a:t> on advertising, what would you </a:t>
            </a:r>
            <a:r>
              <a:rPr lang="en-US" i="1" dirty="0"/>
              <a:t>predict</a:t>
            </a:r>
            <a:r>
              <a:rPr lang="en-US" dirty="0"/>
              <a:t> the sales to be?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Your prediction:</a:t>
            </a:r>
            <a:r>
              <a:rPr lang="en-US" dirty="0"/>
              <a:t> _____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B6928C4-75CD-757C-7B03-1E91918416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1"/>
          <a:stretch>
            <a:fillRect/>
          </a:stretch>
        </p:blipFill>
        <p:spPr>
          <a:xfrm>
            <a:off x="5720006" y="1661636"/>
            <a:ext cx="6052601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70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3C016-FC57-1192-56B1-407522CFE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BD80E6-2F18-7094-4A19-965A3250C503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0269118-1BE5-948F-2BA6-07275D786365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r>
              <a:rPr lang="zh-CN" alt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Determining the Line of Best Fit</a:t>
            </a:r>
            <a:endParaRPr lang="en-US" sz="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268AF78-9C7B-6C30-E1F4-336B136E51AB}"/>
              </a:ext>
            </a:extLst>
          </p:cNvPr>
          <p:cNvSpPr/>
          <p:nvPr/>
        </p:nvSpPr>
        <p:spPr>
          <a:xfrm>
            <a:off x="11399520" y="304800"/>
            <a:ext cx="512064" cy="51206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9DE19B7-25DB-99F1-B1D1-F4F4B26E58C5}"/>
              </a:ext>
            </a:extLst>
          </p:cNvPr>
          <p:cNvSpPr/>
          <p:nvPr/>
        </p:nvSpPr>
        <p:spPr>
          <a:xfrm>
            <a:off x="548640" y="1584959"/>
            <a:ext cx="4876800" cy="491209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6A13ACE-98AD-4991-500E-E2E2928F76CB}"/>
              </a:ext>
            </a:extLst>
          </p:cNvPr>
          <p:cNvSpPr/>
          <p:nvPr/>
        </p:nvSpPr>
        <p:spPr>
          <a:xfrm>
            <a:off x="792480" y="170688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88470D-B5FF-1DF6-D020-07B52AB852C7}"/>
              </a:ext>
            </a:extLst>
          </p:cNvPr>
          <p:cNvSpPr txBox="1"/>
          <p:nvPr/>
        </p:nvSpPr>
        <p:spPr>
          <a:xfrm>
            <a:off x="1042988" y="2314575"/>
            <a:ext cx="39004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data shows a linear trend, we can draw a straight line through it. But which line is </a:t>
            </a:r>
            <a:r>
              <a:rPr lang="en-US" i="1" dirty="0"/>
              <a:t>best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Consider two candidate lines below.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1C54F7-9B1A-D982-472B-97C0D529A5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3" t="1332"/>
          <a:stretch>
            <a:fillRect/>
          </a:stretch>
        </p:blipFill>
        <p:spPr>
          <a:xfrm>
            <a:off x="5913120" y="1920240"/>
            <a:ext cx="5502497" cy="409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95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8A6A4-1EBA-9911-86C4-29C508290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92CB99-C089-B321-3154-810DE94CABCB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557933-68D0-761B-8A71-4B9A33E9034A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Determining the Line of Best Fit</a:t>
            </a:r>
            <a:endParaRPr lang="en-US" sz="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1CB551C-9CEE-2802-6167-D1998C40F366}"/>
              </a:ext>
            </a:extLst>
          </p:cNvPr>
          <p:cNvSpPr/>
          <p:nvPr/>
        </p:nvSpPr>
        <p:spPr>
          <a:xfrm>
            <a:off x="11399520" y="304800"/>
            <a:ext cx="512064" cy="51206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7186882-4E90-C7D7-3CEB-DAD9E58B5C91}"/>
              </a:ext>
            </a:extLst>
          </p:cNvPr>
          <p:cNvSpPr/>
          <p:nvPr/>
        </p:nvSpPr>
        <p:spPr>
          <a:xfrm>
            <a:off x="548640" y="1584959"/>
            <a:ext cx="10850880" cy="2118361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0FF0A31-1504-C848-8918-5DB0B13D4B0D}"/>
              </a:ext>
            </a:extLst>
          </p:cNvPr>
          <p:cNvSpPr/>
          <p:nvPr/>
        </p:nvSpPr>
        <p:spPr>
          <a:xfrm>
            <a:off x="792480" y="170688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7CA2D7-0A9E-F6A2-D1A4-35F40A8C57EC}"/>
              </a:ext>
            </a:extLst>
          </p:cNvPr>
          <p:cNvSpPr txBox="1"/>
          <p:nvPr/>
        </p:nvSpPr>
        <p:spPr>
          <a:xfrm>
            <a:off x="1042988" y="2314575"/>
            <a:ext cx="99907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line of best fit </a:t>
            </a:r>
            <a:r>
              <a:rPr lang="en-US" dirty="0"/>
              <a:t>(also called a regression line) is the best line, it is a line that minimizes the sum of the squared residuals, where a residual is the difference between an observed value and the value predicted by the line.</a:t>
            </a:r>
          </a:p>
        </p:txBody>
      </p:sp>
    </p:spTree>
    <p:extLst>
      <p:ext uri="{BB962C8B-B14F-4D97-AF65-F5344CB8AC3E}">
        <p14:creationId xmlns:p14="http://schemas.microsoft.com/office/powerpoint/2010/main" val="2779650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4B54C-0BE2-C342-2EF7-58973C58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765D379-1629-E5F8-680B-7BB439AA6C9B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85B3AD7-E9FB-05E8-27C8-7AE2ADF518F6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Determining the Line of Best Fit</a:t>
            </a:r>
            <a:endParaRPr lang="en-US" sz="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8838D98-23C9-9CD5-A456-85194BC27455}"/>
              </a:ext>
            </a:extLst>
          </p:cNvPr>
          <p:cNvSpPr/>
          <p:nvPr/>
        </p:nvSpPr>
        <p:spPr>
          <a:xfrm>
            <a:off x="11399520" y="304800"/>
            <a:ext cx="512064" cy="51206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0726380E-0630-C298-0E08-1610A0426B4C}"/>
              </a:ext>
            </a:extLst>
          </p:cNvPr>
          <p:cNvSpPr/>
          <p:nvPr/>
        </p:nvSpPr>
        <p:spPr>
          <a:xfrm>
            <a:off x="6279357" y="1641106"/>
            <a:ext cx="5632227" cy="491209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584243C4-41F2-C2B3-DF5C-BE7CCA2E321F}"/>
              </a:ext>
            </a:extLst>
          </p:cNvPr>
          <p:cNvSpPr/>
          <p:nvPr/>
        </p:nvSpPr>
        <p:spPr>
          <a:xfrm>
            <a:off x="6523197" y="1763027"/>
            <a:ext cx="5998464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residuals?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680D6C-BEF7-C03A-39C5-8C6EFA901EB8}"/>
                  </a:ext>
                </a:extLst>
              </p:cNvPr>
              <p:cNvSpPr txBox="1"/>
              <p:nvPr/>
            </p:nvSpPr>
            <p:spPr>
              <a:xfrm>
                <a:off x="6645593" y="2201993"/>
                <a:ext cx="5265991" cy="3895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 </a:t>
                </a:r>
                <a:r>
                  <a:rPr lang="en-US" b="1" dirty="0"/>
                  <a:t>residual</a:t>
                </a:r>
                <a:r>
                  <a:rPr lang="en-US" dirty="0"/>
                  <a:t> is the vertical distance between a data point and the fitted line:</a:t>
                </a:r>
                <a:br>
                  <a:rPr lang="en-US" dirty="0"/>
                </a:br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𝑟𝑒𝑠𝑖𝑑𝑢𝑎𝑙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</a:t>
                </a:r>
                <a:r>
                  <a:rPr lang="en-US" i="1" dirty="0"/>
                  <a:t>observed</a:t>
                </a:r>
                <a:r>
                  <a:rPr lang="en-US" dirty="0"/>
                  <a:t> value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</a:t>
                </a:r>
                <a:r>
                  <a:rPr lang="en-US" i="1" dirty="0"/>
                  <a:t>predicted</a:t>
                </a:r>
                <a:r>
                  <a:rPr lang="en-US" dirty="0"/>
                  <a:t> value from the line.</a:t>
                </a:r>
              </a:p>
              <a:p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b="1" dirty="0"/>
                  <a:t>best fit line</a:t>
                </a:r>
                <a:r>
                  <a:rPr lang="en-US" dirty="0"/>
                  <a:t> minimizes the </a:t>
                </a:r>
                <a:r>
                  <a:rPr lang="en-US" b="1" dirty="0"/>
                  <a:t>Sum of Squared Residuals (SSR)</a:t>
                </a:r>
                <a:r>
                  <a:rPr lang="en-US" dirty="0"/>
                  <a:t>:</a:t>
                </a:r>
              </a:p>
              <a:p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𝑆𝑅𝑅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approach is called </a:t>
                </a:r>
                <a:r>
                  <a:rPr lang="en-US" b="1" dirty="0"/>
                  <a:t>Least Squares Regression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680D6C-BEF7-C03A-39C5-8C6EFA901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5593" y="2201993"/>
                <a:ext cx="5265991" cy="3895554"/>
              </a:xfrm>
              <a:prstGeom prst="rect">
                <a:avLst/>
              </a:prstGeom>
              <a:blipFill>
                <a:blip r:embed="rId3"/>
                <a:stretch>
                  <a:fillRect l="-964" t="-649" r="-241" b="-25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C771969C-364A-D9D3-C860-578438648D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75"/>
          <a:stretch>
            <a:fillRect/>
          </a:stretch>
        </p:blipFill>
        <p:spPr>
          <a:xfrm>
            <a:off x="196449" y="1929893"/>
            <a:ext cx="5792871" cy="433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651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BACCE-358C-888F-E658-39621444F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6EF76B-E146-1EF6-DCBA-28DEFF4E1299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18855A-212E-3DD9-9A6A-FD81F3BA55A3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 Computer to Fit a Line</a:t>
            </a:r>
            <a:endParaRPr lang="en-US" sz="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1199C57-F324-CB0A-9D88-2820CD487042}"/>
              </a:ext>
            </a:extLst>
          </p:cNvPr>
          <p:cNvSpPr/>
          <p:nvPr/>
        </p:nvSpPr>
        <p:spPr>
          <a:xfrm>
            <a:off x="11399520" y="304800"/>
            <a:ext cx="512064" cy="51206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0CF0E240-554E-F720-C2F4-298B81F280F8}"/>
              </a:ext>
            </a:extLst>
          </p:cNvPr>
          <p:cNvSpPr/>
          <p:nvPr/>
        </p:nvSpPr>
        <p:spPr>
          <a:xfrm>
            <a:off x="274320" y="1641106"/>
            <a:ext cx="11637264" cy="491209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DA06990-773B-9461-1484-AC6A3E9D0B10}"/>
              </a:ext>
            </a:extLst>
          </p:cNvPr>
          <p:cNvSpPr/>
          <p:nvPr/>
        </p:nvSpPr>
        <p:spPr>
          <a:xfrm>
            <a:off x="475488" y="1804445"/>
            <a:ext cx="1347693" cy="438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curve_fit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62B3AC-A9DB-60C4-549D-3D32386C48A8}"/>
              </a:ext>
            </a:extLst>
          </p:cNvPr>
          <p:cNvSpPr txBox="1"/>
          <p:nvPr/>
        </p:nvSpPr>
        <p:spPr>
          <a:xfrm>
            <a:off x="475488" y="2323914"/>
            <a:ext cx="1240126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curve_fit </a:t>
            </a:r>
            <a:r>
              <a:rPr lang="en-US" dirty="0"/>
              <a:t>from scipy.optimize automatically finds the </a:t>
            </a:r>
            <a:r>
              <a:rPr lang="en-US" b="1" dirty="0"/>
              <a:t>best-fit parameters</a:t>
            </a:r>
            <a:r>
              <a:rPr lang="en-US" dirty="0"/>
              <a:t> for any mathematical function you give it.</a:t>
            </a:r>
            <a:br>
              <a:rPr lang="en-US" dirty="0"/>
            </a:br>
            <a:endParaRPr lang="en-US" dirty="0"/>
          </a:p>
          <a:p>
            <a:r>
              <a:rPr lang="en-US" dirty="0"/>
              <a:t>You need to provide:</a:t>
            </a:r>
          </a:p>
          <a:p>
            <a:r>
              <a:rPr lang="en-US" dirty="0"/>
              <a:t>1. A </a:t>
            </a:r>
            <a:r>
              <a:rPr lang="en-US" b="1" dirty="0"/>
              <a:t>Python function</a:t>
            </a:r>
            <a:r>
              <a:rPr lang="en-US" dirty="0"/>
              <a:t> that represents your mathematical model (e.g.,</a:t>
            </a:r>
            <a:r>
              <a:rPr lang="zh-CN" altLang="en-US" dirty="0"/>
              <a:t> </a:t>
            </a:r>
            <a:r>
              <a:rPr lang="en-US" dirty="0"/>
              <a:t>y = A*x + B)</a:t>
            </a:r>
          </a:p>
          <a:p>
            <a:r>
              <a:rPr lang="en-US" dirty="0"/>
              <a:t>2. Your </a:t>
            </a:r>
            <a:r>
              <a:rPr lang="en-US" b="1" dirty="0"/>
              <a:t>x data</a:t>
            </a:r>
            <a:r>
              <a:rPr lang="en-US" dirty="0"/>
              <a:t> and </a:t>
            </a:r>
            <a:r>
              <a:rPr lang="en-US" b="1" dirty="0"/>
              <a:t>y data</a:t>
            </a:r>
            <a:br>
              <a:rPr lang="en-US" dirty="0"/>
            </a:br>
            <a:endParaRPr lang="en-US" dirty="0"/>
          </a:p>
          <a:p>
            <a:r>
              <a:rPr lang="en-US" dirty="0"/>
              <a:t>curve_fit returns:</a:t>
            </a:r>
          </a:p>
          <a:p>
            <a:r>
              <a:rPr lang="en-US" dirty="0"/>
              <a:t>- </a:t>
            </a:r>
            <a:r>
              <a:rPr lang="zh-CN" altLang="en-US" dirty="0"/>
              <a:t> </a:t>
            </a:r>
            <a:r>
              <a:rPr lang="en-US" dirty="0" err="1"/>
              <a:t>popt</a:t>
            </a:r>
            <a:r>
              <a:rPr lang="en-US" dirty="0"/>
              <a:t> — the </a:t>
            </a:r>
            <a:r>
              <a:rPr lang="en-US" b="1" dirty="0"/>
              <a:t>optimal parameters</a:t>
            </a:r>
            <a:r>
              <a:rPr lang="en-US" dirty="0"/>
              <a:t> (e.g., the best values of A and B)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pcov</a:t>
            </a:r>
            <a:r>
              <a:rPr lang="en-US" dirty="0"/>
              <a:t> — the </a:t>
            </a:r>
            <a:r>
              <a:rPr lang="en-US" b="1" dirty="0"/>
              <a:t>parameter covariance matrix</a:t>
            </a:r>
            <a:r>
              <a:rPr lang="en-US" dirty="0"/>
              <a:t> (used to estimate uncertainty in the parameters)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If your model is: </a:t>
            </a:r>
            <a:r>
              <a:rPr lang="en-US" dirty="0">
                <a:solidFill>
                  <a:srgbClr val="1B998B"/>
                </a:solidFill>
              </a:rPr>
              <a:t>y = mx + b</a:t>
            </a:r>
          </a:p>
          <a:p>
            <a:r>
              <a:rPr lang="en-US" dirty="0" err="1"/>
              <a:t>popt</a:t>
            </a:r>
            <a:r>
              <a:rPr lang="en-US" dirty="0"/>
              <a:t> contain the estimations for m and b</a:t>
            </a:r>
          </a:p>
          <a:p>
            <a:r>
              <a:rPr lang="en-US" dirty="0" err="1"/>
              <a:t>pcov</a:t>
            </a:r>
            <a:r>
              <a:rPr lang="en-US" dirty="0"/>
              <a:t> is a matrix like:</a:t>
            </a:r>
          </a:p>
          <a:p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DC39A2-D3D7-82DD-A85B-099274DCCB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51" t="15824" r="17675"/>
          <a:stretch>
            <a:fillRect/>
          </a:stretch>
        </p:blipFill>
        <p:spPr>
          <a:xfrm>
            <a:off x="4987290" y="5216894"/>
            <a:ext cx="2217420" cy="89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632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92774-36FB-9ADC-FC5A-488A36211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6BD0C24-33A3-49ED-F22D-378E4BB0CFE0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A37645-AE2F-D8C5-A96D-1B4D7FC6B5B0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Using a Computer to Fit a Line</a:t>
            </a:r>
            <a:endParaRPr lang="en-US" sz="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0E07301-5DD8-561A-546A-0C541EDC586E}"/>
              </a:ext>
            </a:extLst>
          </p:cNvPr>
          <p:cNvSpPr/>
          <p:nvPr/>
        </p:nvSpPr>
        <p:spPr>
          <a:xfrm>
            <a:off x="11399520" y="304800"/>
            <a:ext cx="512064" cy="51206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EF2346CC-9D59-90C1-159C-0AF102C39AC8}"/>
              </a:ext>
            </a:extLst>
          </p:cNvPr>
          <p:cNvSpPr/>
          <p:nvPr/>
        </p:nvSpPr>
        <p:spPr>
          <a:xfrm>
            <a:off x="274320" y="1641106"/>
            <a:ext cx="11637264" cy="491209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1AA874D-DAC7-265F-8BEF-7D73009D2E12}"/>
              </a:ext>
            </a:extLst>
          </p:cNvPr>
          <p:cNvSpPr/>
          <p:nvPr/>
        </p:nvSpPr>
        <p:spPr>
          <a:xfrm>
            <a:off x="475488" y="1804445"/>
            <a:ext cx="3541876" cy="438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Fitting a Linear Model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027D71-F325-C5BF-F202-D53778C3D49F}"/>
              </a:ext>
            </a:extLst>
          </p:cNvPr>
          <p:cNvSpPr txBox="1"/>
          <p:nvPr/>
        </p:nvSpPr>
        <p:spPr>
          <a:xfrm>
            <a:off x="475489" y="2311695"/>
            <a:ext cx="37217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Say we want to fit: </a:t>
            </a:r>
            <a:r>
              <a:rPr lang="en-US" dirty="0"/>
              <a:t>y = Ax + B</a:t>
            </a:r>
          </a:p>
          <a:p>
            <a:endParaRPr lang="en-US" dirty="0"/>
          </a:p>
          <a:p>
            <a:r>
              <a:rPr lang="en-US" dirty="0"/>
              <a:t>onto the advertising vs sales data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88BE9D-5E7E-0D36-7A81-A30DA2E48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198" y="1981199"/>
            <a:ext cx="6884398" cy="411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10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A8B13-93F6-31AA-D0D9-611C82A6E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21028C-66C3-7F6B-C048-8A59F51AED90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5499E8-5035-9126-06CA-A1EE80093947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Using a Computer to Fit a Line</a:t>
            </a:r>
            <a:endParaRPr lang="en-US" sz="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6A57C5C-709C-EE61-61BF-C0E8461D2E70}"/>
              </a:ext>
            </a:extLst>
          </p:cNvPr>
          <p:cNvSpPr/>
          <p:nvPr/>
        </p:nvSpPr>
        <p:spPr>
          <a:xfrm>
            <a:off x="11399520" y="304800"/>
            <a:ext cx="512064" cy="51206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7ECCBCC2-8923-E91A-088B-CFF979F677BA}"/>
              </a:ext>
            </a:extLst>
          </p:cNvPr>
          <p:cNvSpPr/>
          <p:nvPr/>
        </p:nvSpPr>
        <p:spPr>
          <a:xfrm>
            <a:off x="274320" y="1641106"/>
            <a:ext cx="11637264" cy="491209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7F80973B-5122-70EE-14C9-D4F2A4B9FBE4}"/>
              </a:ext>
            </a:extLst>
          </p:cNvPr>
          <p:cNvSpPr/>
          <p:nvPr/>
        </p:nvSpPr>
        <p:spPr>
          <a:xfrm>
            <a:off x="475488" y="1804445"/>
            <a:ext cx="3541876" cy="438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Fitting a Linear Model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85CC99-8003-C930-5023-6CB84A7205BC}"/>
              </a:ext>
            </a:extLst>
          </p:cNvPr>
          <p:cNvSpPr txBox="1"/>
          <p:nvPr/>
        </p:nvSpPr>
        <p:spPr>
          <a:xfrm>
            <a:off x="475489" y="2311695"/>
            <a:ext cx="28972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Say we want to fit: </a:t>
            </a:r>
            <a:r>
              <a:rPr lang="en-US" dirty="0"/>
              <a:t>y = Ax + B</a:t>
            </a:r>
          </a:p>
          <a:p>
            <a:endParaRPr lang="en-US" dirty="0"/>
          </a:p>
          <a:p>
            <a:r>
              <a:rPr lang="en-US" dirty="0"/>
              <a:t>onto the advertising vs sales data</a:t>
            </a:r>
          </a:p>
          <a:p>
            <a:endParaRPr lang="en-US" dirty="0"/>
          </a:p>
          <a:p>
            <a:r>
              <a:rPr lang="en-US" dirty="0"/>
              <a:t>Let us plot it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6CEA10-B598-D7F3-4B97-43BE57A22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956" y="2243411"/>
            <a:ext cx="8092112" cy="39050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A30913-D699-2043-AEA8-A9064D90B4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19" b="1583"/>
          <a:stretch>
            <a:fillRect/>
          </a:stretch>
        </p:blipFill>
        <p:spPr>
          <a:xfrm>
            <a:off x="643117" y="4411304"/>
            <a:ext cx="2562042" cy="190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02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AF74F-E983-0FF3-11D3-CBDA40637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6BC2D9-CDE0-3924-DB99-2A4ED79C0B49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A4FBD1D-72F3-3037-E4BF-EC51A627C4AF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Using a Computer to Fit a Line</a:t>
            </a:r>
            <a:endParaRPr lang="en-US" sz="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B870654-6318-42D5-3822-E6D2E049D8D7}"/>
              </a:ext>
            </a:extLst>
          </p:cNvPr>
          <p:cNvSpPr/>
          <p:nvPr/>
        </p:nvSpPr>
        <p:spPr>
          <a:xfrm>
            <a:off x="11399520" y="304800"/>
            <a:ext cx="512064" cy="51206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1A136443-9E01-1EBA-B89A-ECC7AA91AC0A}"/>
              </a:ext>
            </a:extLst>
          </p:cNvPr>
          <p:cNvSpPr/>
          <p:nvPr/>
        </p:nvSpPr>
        <p:spPr>
          <a:xfrm>
            <a:off x="274320" y="1641106"/>
            <a:ext cx="11637264" cy="491209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021613F-6DB8-1EDD-A116-D2086435719C}"/>
              </a:ext>
            </a:extLst>
          </p:cNvPr>
          <p:cNvSpPr/>
          <p:nvPr/>
        </p:nvSpPr>
        <p:spPr>
          <a:xfrm>
            <a:off x="475488" y="1804445"/>
            <a:ext cx="3541876" cy="438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Fitting a Linear Model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C24BD5-6E93-DE25-8EBA-5EE87FF2442D}"/>
              </a:ext>
            </a:extLst>
          </p:cNvPr>
          <p:cNvSpPr txBox="1"/>
          <p:nvPr/>
        </p:nvSpPr>
        <p:spPr>
          <a:xfrm>
            <a:off x="475489" y="2311695"/>
            <a:ext cx="10212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the fitted model above, predict the sales if the advertising budget is </a:t>
            </a:r>
            <a:r>
              <a:rPr lang="en-US" b="1" dirty="0"/>
              <a:t>$11,000</a:t>
            </a:r>
            <a:r>
              <a:rPr lang="en-US" dirty="0"/>
              <a:t> (i.e., x = 11).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C6243B-3A05-E99B-AE76-22031B923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2824825"/>
            <a:ext cx="8458450" cy="120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630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9E002-8023-093C-C4E0-CD8106757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4B0DF38-AB54-1346-A486-2287123ECA84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8CB2C0-A2AB-BCB3-D4FB-82DA9DAE40C3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Using a Computer to Fit a Line</a:t>
            </a:r>
            <a:endParaRPr lang="en-US" sz="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D432E53-846B-3950-D970-6C6410D90A0D}"/>
              </a:ext>
            </a:extLst>
          </p:cNvPr>
          <p:cNvSpPr/>
          <p:nvPr/>
        </p:nvSpPr>
        <p:spPr>
          <a:xfrm>
            <a:off x="11399520" y="304800"/>
            <a:ext cx="512064" cy="51206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936D09E2-4179-FE60-CEFD-AF8A2B810956}"/>
              </a:ext>
            </a:extLst>
          </p:cNvPr>
          <p:cNvSpPr/>
          <p:nvPr/>
        </p:nvSpPr>
        <p:spPr>
          <a:xfrm>
            <a:off x="274320" y="1641106"/>
            <a:ext cx="11637264" cy="491209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95118D1-97AA-7806-46E5-8152E2E7EEFE}"/>
              </a:ext>
            </a:extLst>
          </p:cNvPr>
          <p:cNvSpPr/>
          <p:nvPr/>
        </p:nvSpPr>
        <p:spPr>
          <a:xfrm>
            <a:off x="475488" y="1804445"/>
            <a:ext cx="3541876" cy="438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B7DD7A-FC17-91D1-CB74-E8F4673904C3}"/>
              </a:ext>
            </a:extLst>
          </p:cNvPr>
          <p:cNvSpPr txBox="1"/>
          <p:nvPr/>
        </p:nvSpPr>
        <p:spPr>
          <a:xfrm>
            <a:off x="475489" y="2311695"/>
            <a:ext cx="10212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line of best fit for this: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B88498-8AB1-9A01-30DE-F73B3A51C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2805524"/>
            <a:ext cx="4452353" cy="33718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30D20C-3C94-6CB4-607E-597052650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2590" y="1804445"/>
            <a:ext cx="5564096" cy="412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511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2097C-B32D-CB07-DE9A-6D9B8C12D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4C402E0-3B67-BCC5-C3DD-A05C0697C9CE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C0D554-22D0-63CA-94AE-0B9B415DA61E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Using a Computer to Fit a Line</a:t>
            </a:r>
            <a:endParaRPr lang="en-US" sz="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18138CB-C220-0333-1318-33F9403DA9C5}"/>
              </a:ext>
            </a:extLst>
          </p:cNvPr>
          <p:cNvSpPr/>
          <p:nvPr/>
        </p:nvSpPr>
        <p:spPr>
          <a:xfrm>
            <a:off x="11399520" y="304800"/>
            <a:ext cx="512064" cy="51206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30CD5C35-105A-AE3B-D9B8-ACA5B9060CBB}"/>
              </a:ext>
            </a:extLst>
          </p:cNvPr>
          <p:cNvSpPr/>
          <p:nvPr/>
        </p:nvSpPr>
        <p:spPr>
          <a:xfrm>
            <a:off x="274320" y="1641106"/>
            <a:ext cx="11637264" cy="491209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B963226-A6AB-E884-AA17-C78BA3AEA702}"/>
              </a:ext>
            </a:extLst>
          </p:cNvPr>
          <p:cNvSpPr/>
          <p:nvPr/>
        </p:nvSpPr>
        <p:spPr>
          <a:xfrm>
            <a:off x="475488" y="1804445"/>
            <a:ext cx="3541876" cy="438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DC9C80-3A0D-3D65-7F1A-E6688E1FCFA8}"/>
              </a:ext>
            </a:extLst>
          </p:cNvPr>
          <p:cNvSpPr txBox="1"/>
          <p:nvPr/>
        </p:nvSpPr>
        <p:spPr>
          <a:xfrm>
            <a:off x="475489" y="2311695"/>
            <a:ext cx="10212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line of best fit for this - answer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A651F9-A5CF-BFB1-340C-8B990F22C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240" y="1482610"/>
            <a:ext cx="5918200" cy="4635500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FFB11FF-C033-C86A-8F36-E6D05CBE0F84}"/>
              </a:ext>
            </a:extLst>
          </p:cNvPr>
          <p:cNvSpPr/>
          <p:nvPr/>
        </p:nvSpPr>
        <p:spPr>
          <a:xfrm>
            <a:off x="5603240" y="2050704"/>
            <a:ext cx="3743044" cy="630324"/>
          </a:xfrm>
          <a:prstGeom prst="roundRect">
            <a:avLst/>
          </a:prstGeom>
          <a:solidFill>
            <a:srgbClr val="1B998B">
              <a:alpha val="19710"/>
            </a:srgbClr>
          </a:solidFill>
          <a:ln w="9525">
            <a:solidFill>
              <a:srgbClr val="1B99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EAD095-CD61-8824-5A91-88732DA4F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2811047"/>
            <a:ext cx="4321748" cy="320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335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10861-844C-9126-160D-266492122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D07C57-7548-E746-644F-660D95C6FE32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AA2961-3F98-C8E8-2D49-7B6173EF46C1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Using a Computer to Fit a Line</a:t>
            </a:r>
            <a:endParaRPr lang="en-US" sz="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FB491B7-F95E-DEC5-10AD-B01E30D27D4F}"/>
              </a:ext>
            </a:extLst>
          </p:cNvPr>
          <p:cNvSpPr/>
          <p:nvPr/>
        </p:nvSpPr>
        <p:spPr>
          <a:xfrm>
            <a:off x="11399520" y="304800"/>
            <a:ext cx="512064" cy="51206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06284D3F-C150-054D-E676-4220DAA010D6}"/>
              </a:ext>
            </a:extLst>
          </p:cNvPr>
          <p:cNvSpPr/>
          <p:nvPr/>
        </p:nvSpPr>
        <p:spPr>
          <a:xfrm>
            <a:off x="274320" y="1641106"/>
            <a:ext cx="11637264" cy="491209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A98332C-0A08-284C-C703-1CC43EA96C23}"/>
              </a:ext>
            </a:extLst>
          </p:cNvPr>
          <p:cNvSpPr/>
          <p:nvPr/>
        </p:nvSpPr>
        <p:spPr>
          <a:xfrm>
            <a:off x="475488" y="1804445"/>
            <a:ext cx="4737608" cy="438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Good is the Fit? (Goodness of Fit)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1462BC-ADEC-A031-5428-CEC2799CDA7E}"/>
              </a:ext>
            </a:extLst>
          </p:cNvPr>
          <p:cNvSpPr txBox="1"/>
          <p:nvPr/>
        </p:nvSpPr>
        <p:spPr>
          <a:xfrm>
            <a:off x="475488" y="2311695"/>
            <a:ext cx="112168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fitting a model, we need to ask: </a:t>
            </a:r>
            <a:r>
              <a:rPr lang="en-US" b="1" dirty="0"/>
              <a:t>how well does it describe the data?</a:t>
            </a:r>
          </a:p>
          <a:p>
            <a:endParaRPr lang="en-US" dirty="0"/>
          </a:p>
          <a:p>
            <a:r>
              <a:rPr lang="en-US" b="1" dirty="0">
                <a:solidFill>
                  <a:srgbClr val="1B998B"/>
                </a:solidFill>
              </a:rPr>
              <a:t>The R² (R-squared) Score</a:t>
            </a:r>
            <a:endParaRPr lang="en-US" dirty="0">
              <a:solidFill>
                <a:srgbClr val="1B998B"/>
              </a:solidFill>
            </a:endParaRPr>
          </a:p>
          <a:p>
            <a:endParaRPr lang="en-US" dirty="0"/>
          </a:p>
          <a:p>
            <a:r>
              <a:rPr lang="en-US" dirty="0"/>
              <a:t>R² is the most common measure of goodness of fit for linear fits. It tells you what </a:t>
            </a:r>
            <a:r>
              <a:rPr lang="en-US" b="1" dirty="0"/>
              <a:t>fraction of the variance</a:t>
            </a:r>
            <a:r>
              <a:rPr lang="en-US" dirty="0"/>
              <a:t> in your data is explained by the model.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1DFEDF-4AC4-B05D-994D-6AD66B0FF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694" y="4134305"/>
            <a:ext cx="6400800" cy="1790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A2E945-CFE5-DAFD-CB97-C3E74ABE8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5541" y="4134305"/>
            <a:ext cx="2498651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88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D0EC6-4466-42D0-6495-9B7137D27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7E1E38-1861-80E6-9BE8-AA11826A55A5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6D18F88-BED1-E093-E203-47057602D7AB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Using a Computer to Fit a Line</a:t>
            </a:r>
            <a:endParaRPr lang="en-US" sz="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89E738F-1C53-BDD7-4D78-67F25B4384F1}"/>
              </a:ext>
            </a:extLst>
          </p:cNvPr>
          <p:cNvSpPr/>
          <p:nvPr/>
        </p:nvSpPr>
        <p:spPr>
          <a:xfrm>
            <a:off x="11399520" y="304800"/>
            <a:ext cx="512064" cy="51206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613ED566-4C31-FCC4-8764-7AD01A634572}"/>
              </a:ext>
            </a:extLst>
          </p:cNvPr>
          <p:cNvSpPr/>
          <p:nvPr/>
        </p:nvSpPr>
        <p:spPr>
          <a:xfrm>
            <a:off x="274320" y="1641106"/>
            <a:ext cx="11637264" cy="491209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D612FD7-F008-7729-0C9F-8EB05129DACE}"/>
              </a:ext>
            </a:extLst>
          </p:cNvPr>
          <p:cNvSpPr/>
          <p:nvPr/>
        </p:nvSpPr>
        <p:spPr>
          <a:xfrm>
            <a:off x="475488" y="1804445"/>
            <a:ext cx="4737608" cy="438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Good is the Fit? (Goodness of Fit)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972925-3118-D9DB-3978-1F2EF03D52D3}"/>
              </a:ext>
            </a:extLst>
          </p:cNvPr>
          <p:cNvSpPr txBox="1"/>
          <p:nvPr/>
        </p:nvSpPr>
        <p:spPr>
          <a:xfrm>
            <a:off x="475488" y="2311695"/>
            <a:ext cx="112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 us find R² for the sales and advertising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5065CD-7D9C-3B6B-A92C-1463325EC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320" y="2981013"/>
            <a:ext cx="9719360" cy="265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658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299FF-EA47-8C06-DCDE-8AE1FF440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>
            <a:extLst>
              <a:ext uri="{FF2B5EF4-FFF2-40B4-BE49-F238E27FC236}">
                <a16:creationId xmlns:a16="http://schemas.microsoft.com/office/drawing/2014/main" id="{1F18B00C-B392-B115-9B6A-B39498ADEF2F}"/>
              </a:ext>
            </a:extLst>
          </p:cNvPr>
          <p:cNvSpPr/>
          <p:nvPr/>
        </p:nvSpPr>
        <p:spPr>
          <a:xfrm>
            <a:off x="274320" y="1641106"/>
            <a:ext cx="11637264" cy="491209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FF6863-C563-A592-4DB8-8C891BC5E3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32"/>
          <a:stretch>
            <a:fillRect/>
          </a:stretch>
        </p:blipFill>
        <p:spPr>
          <a:xfrm>
            <a:off x="6925456" y="3059556"/>
            <a:ext cx="4108304" cy="3044072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511FDD81-4274-6092-CF00-58067D1A31D8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F685F4E-1989-AC35-F5CC-3D34263F1DBB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5. Comparing Models: Atmospheric Density vs. Height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BB4B16B-6AD3-06DC-6074-7A9DF13EB4A4}"/>
              </a:ext>
            </a:extLst>
          </p:cNvPr>
          <p:cNvSpPr/>
          <p:nvPr/>
        </p:nvSpPr>
        <p:spPr>
          <a:xfrm>
            <a:off x="11399520" y="304800"/>
            <a:ext cx="512064" cy="51206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7BE5DCE-CE51-EF43-25FD-C68A0BF95508}"/>
              </a:ext>
            </a:extLst>
          </p:cNvPr>
          <p:cNvSpPr/>
          <p:nvPr/>
        </p:nvSpPr>
        <p:spPr>
          <a:xfrm>
            <a:off x="475488" y="1804445"/>
            <a:ext cx="4737608" cy="438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Good is the Fit? (Goodness of Fit)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EB69EF-3D09-ABD4-8040-B27A8B4DAD3B}"/>
              </a:ext>
            </a:extLst>
          </p:cNvPr>
          <p:cNvSpPr txBox="1"/>
          <p:nvPr/>
        </p:nvSpPr>
        <p:spPr>
          <a:xfrm>
            <a:off x="475488" y="2311695"/>
            <a:ext cx="112168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let's apply what we've learned to a real-world physics dataset.</a:t>
            </a:r>
          </a:p>
          <a:p>
            <a:r>
              <a:rPr lang="en-US" dirty="0"/>
              <a:t>The data below represents </a:t>
            </a:r>
            <a:r>
              <a:rPr lang="en-US" b="1" dirty="0"/>
              <a:t>atmospheric density</a:t>
            </a:r>
            <a:r>
              <a:rPr lang="en-US" dirty="0"/>
              <a:t> (kg/m³) at various </a:t>
            </a:r>
            <a:r>
              <a:rPr lang="en-US" b="1" dirty="0"/>
              <a:t>altitudes</a:t>
            </a:r>
            <a:r>
              <a:rPr lang="en-US" dirty="0"/>
              <a:t> (km) above Earth's surface.</a:t>
            </a:r>
          </a:p>
          <a:p>
            <a:r>
              <a:rPr lang="en-US" dirty="0"/>
              <a:t>We will test </a:t>
            </a:r>
            <a:r>
              <a:rPr lang="en-US" b="1" dirty="0"/>
              <a:t>three different models</a:t>
            </a:r>
            <a:r>
              <a:rPr lang="en-US" dirty="0"/>
              <a:t> and decide which one fits best: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A2B5ED-CF51-1C80-EBF7-235E59B15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192" y="4100326"/>
            <a:ext cx="28702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4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1BBE8-96EE-1C03-8ED6-52D02073E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>
            <a:extLst>
              <a:ext uri="{FF2B5EF4-FFF2-40B4-BE49-F238E27FC236}">
                <a16:creationId xmlns:a16="http://schemas.microsoft.com/office/drawing/2014/main" id="{69F082D6-895C-8645-EEEC-8A4E36531687}"/>
              </a:ext>
            </a:extLst>
          </p:cNvPr>
          <p:cNvSpPr/>
          <p:nvPr/>
        </p:nvSpPr>
        <p:spPr>
          <a:xfrm>
            <a:off x="274320" y="1641106"/>
            <a:ext cx="11637264" cy="491209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DBE14A6B-DD16-5904-1074-C6C27275FC07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29FF17E-6D09-8CB5-1409-938C5D49A4E7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5. Comparing Models: Atmospheric Density vs. Height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07CFB38-2925-F4B7-9A49-619CAB433D16}"/>
              </a:ext>
            </a:extLst>
          </p:cNvPr>
          <p:cNvSpPr/>
          <p:nvPr/>
        </p:nvSpPr>
        <p:spPr>
          <a:xfrm>
            <a:off x="11399520" y="304800"/>
            <a:ext cx="512064" cy="51206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CF6BEC2-4467-79A7-F072-3299B06990F9}"/>
              </a:ext>
            </a:extLst>
          </p:cNvPr>
          <p:cNvSpPr/>
          <p:nvPr/>
        </p:nvSpPr>
        <p:spPr>
          <a:xfrm>
            <a:off x="475488" y="1804445"/>
            <a:ext cx="4737608" cy="438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Define All Three Model Functions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18A807-6C42-13AE-F09E-BE1C85DE7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952" y="2348333"/>
            <a:ext cx="4471413" cy="34976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962696-B282-ECB0-FC08-C24DC1D19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192" y="4100326"/>
            <a:ext cx="28702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364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7F341-3CC3-577A-211C-7A1C4D9EE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>
            <a:extLst>
              <a:ext uri="{FF2B5EF4-FFF2-40B4-BE49-F238E27FC236}">
                <a16:creationId xmlns:a16="http://schemas.microsoft.com/office/drawing/2014/main" id="{BF965DF4-296A-63C1-905C-AF43D7D66B96}"/>
              </a:ext>
            </a:extLst>
          </p:cNvPr>
          <p:cNvSpPr/>
          <p:nvPr/>
        </p:nvSpPr>
        <p:spPr>
          <a:xfrm>
            <a:off x="274320" y="1641106"/>
            <a:ext cx="11637264" cy="491209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C69B8031-09B2-3646-C0B3-35934194F1DA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677A6E-F52A-74F5-8906-F901A01F3DCF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5. Comparing Models: Atmospheric Density vs. Height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808FAC0-7090-A5D5-CFF7-7E1B36674713}"/>
              </a:ext>
            </a:extLst>
          </p:cNvPr>
          <p:cNvSpPr/>
          <p:nvPr/>
        </p:nvSpPr>
        <p:spPr>
          <a:xfrm>
            <a:off x="11399520" y="304800"/>
            <a:ext cx="512064" cy="51206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3EE6232A-9A12-321C-9AB6-F2973FDADE85}"/>
              </a:ext>
            </a:extLst>
          </p:cNvPr>
          <p:cNvSpPr/>
          <p:nvPr/>
        </p:nvSpPr>
        <p:spPr>
          <a:xfrm>
            <a:off x="475488" y="1804445"/>
            <a:ext cx="4737608" cy="438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Fit All Three Models to the Data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7CFCD6-8C60-C07C-56F2-641C47761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572" y="3122179"/>
            <a:ext cx="8108856" cy="179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608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95A16-6ACC-A28F-47B8-2EE5695E7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>
            <a:extLst>
              <a:ext uri="{FF2B5EF4-FFF2-40B4-BE49-F238E27FC236}">
                <a16:creationId xmlns:a16="http://schemas.microsoft.com/office/drawing/2014/main" id="{3E275CBF-BB6F-6EAC-88B2-EC1610EE46D9}"/>
              </a:ext>
            </a:extLst>
          </p:cNvPr>
          <p:cNvSpPr/>
          <p:nvPr/>
        </p:nvSpPr>
        <p:spPr>
          <a:xfrm>
            <a:off x="274320" y="1641106"/>
            <a:ext cx="11637264" cy="491209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4FB1963-3538-0F1C-B374-D3C77DD39195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724B21-FF83-2905-D493-B0867BF498DD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5. Comparing Models: Atmospheric Density vs. Height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D9AD5D4-3851-3E59-2055-0BD0D10FD803}"/>
              </a:ext>
            </a:extLst>
          </p:cNvPr>
          <p:cNvSpPr/>
          <p:nvPr/>
        </p:nvSpPr>
        <p:spPr>
          <a:xfrm>
            <a:off x="11399520" y="304800"/>
            <a:ext cx="512064" cy="51206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7E862BC0-A882-04BD-F53B-B8A43F8BDD39}"/>
              </a:ext>
            </a:extLst>
          </p:cNvPr>
          <p:cNvSpPr/>
          <p:nvPr/>
        </p:nvSpPr>
        <p:spPr>
          <a:xfrm>
            <a:off x="475488" y="1804445"/>
            <a:ext cx="4737608" cy="438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Plot All Three Fits Together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191E77-2FBA-2281-4757-D82571382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642" y="2406750"/>
            <a:ext cx="6923878" cy="35727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7A8025-5545-55BD-3927-6F49659A7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7" y="3204629"/>
            <a:ext cx="3616827" cy="214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13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E98D-D57D-940C-6E2A-23D5EE00A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>
            <a:extLst>
              <a:ext uri="{FF2B5EF4-FFF2-40B4-BE49-F238E27FC236}">
                <a16:creationId xmlns:a16="http://schemas.microsoft.com/office/drawing/2014/main" id="{91A35F28-5B93-50BB-4930-7E9BF4D91351}"/>
              </a:ext>
            </a:extLst>
          </p:cNvPr>
          <p:cNvSpPr/>
          <p:nvPr/>
        </p:nvSpPr>
        <p:spPr>
          <a:xfrm>
            <a:off x="274320" y="1641106"/>
            <a:ext cx="11637264" cy="491209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BC93D8F4-4C8F-A0FA-4FBE-6E218C56C72B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422C73-8D86-C3DD-2FD5-8DDF9A9B954B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5. Comparing Models: Atmospheric Density vs. Height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4EBAD92-52D6-ED58-A7C6-8FEFADAB2A19}"/>
              </a:ext>
            </a:extLst>
          </p:cNvPr>
          <p:cNvSpPr/>
          <p:nvPr/>
        </p:nvSpPr>
        <p:spPr>
          <a:xfrm>
            <a:off x="11399520" y="304800"/>
            <a:ext cx="512064" cy="51206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5E0C0BEE-801B-C5B6-2379-DCE779FC47A2}"/>
              </a:ext>
            </a:extLst>
          </p:cNvPr>
          <p:cNvSpPr/>
          <p:nvPr/>
        </p:nvSpPr>
        <p:spPr>
          <a:xfrm>
            <a:off x="475487" y="1804445"/>
            <a:ext cx="8773443" cy="438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Step 5: Examine Residual Plots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E81B91-0D42-87E4-B452-1F74001D7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553" y="2729706"/>
            <a:ext cx="4747926" cy="262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711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3A53E-4423-79A6-7BF8-A648689D7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>
            <a:extLst>
              <a:ext uri="{FF2B5EF4-FFF2-40B4-BE49-F238E27FC236}">
                <a16:creationId xmlns:a16="http://schemas.microsoft.com/office/drawing/2014/main" id="{B47DC667-1019-63AB-098C-187205636B38}"/>
              </a:ext>
            </a:extLst>
          </p:cNvPr>
          <p:cNvSpPr/>
          <p:nvPr/>
        </p:nvSpPr>
        <p:spPr>
          <a:xfrm>
            <a:off x="274320" y="1641106"/>
            <a:ext cx="11637264" cy="491209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694C650C-CB79-46BA-BE03-61C4C5BF96C6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17FC33-0AAF-8020-3675-C4DA8E8E36D6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6. Summary: Using curve_fit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61DA02-AC3B-39D6-C0A6-C2672FA82FD7}"/>
              </a:ext>
            </a:extLst>
          </p:cNvPr>
          <p:cNvSpPr/>
          <p:nvPr/>
        </p:nvSpPr>
        <p:spPr>
          <a:xfrm>
            <a:off x="11399520" y="304800"/>
            <a:ext cx="512064" cy="51206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ACBD6B-F763-EC87-D2C9-599CA2D25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067" y="114300"/>
            <a:ext cx="4546600" cy="6438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21D5BD-1859-3BEB-BC38-2BF0434DEA84}"/>
              </a:ext>
            </a:extLst>
          </p:cNvPr>
          <p:cNvSpPr txBox="1"/>
          <p:nvPr/>
        </p:nvSpPr>
        <p:spPr>
          <a:xfrm>
            <a:off x="475489" y="2311695"/>
            <a:ext cx="5405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is a concise template you can reuse for any fitting problem: </a:t>
            </a:r>
          </a:p>
        </p:txBody>
      </p:sp>
    </p:spTree>
    <p:extLst>
      <p:ext uri="{BB962C8B-B14F-4D97-AF65-F5344CB8AC3E}">
        <p14:creationId xmlns:p14="http://schemas.microsoft.com/office/powerpoint/2010/main" val="1346484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1F814-49D1-93A7-5437-FA147DB03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>
            <a:extLst>
              <a:ext uri="{FF2B5EF4-FFF2-40B4-BE49-F238E27FC236}">
                <a16:creationId xmlns:a16="http://schemas.microsoft.com/office/drawing/2014/main" id="{805EBC78-0121-00E1-3B78-1F62BE0722C6}"/>
              </a:ext>
            </a:extLst>
          </p:cNvPr>
          <p:cNvSpPr/>
          <p:nvPr/>
        </p:nvSpPr>
        <p:spPr>
          <a:xfrm>
            <a:off x="274320" y="1641106"/>
            <a:ext cx="11637264" cy="491209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A6F1F6-53B4-0226-575A-AE4BBBA1D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788829"/>
            <a:ext cx="5869407" cy="4388027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B5B6263E-41D0-7F85-7D98-4B29A9FF1531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8D011B-B17C-39B4-6528-F98C72CB4FAA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Practice: Fit Your Own Model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53058D1-D06D-7BB7-6B30-13A31A73BC2C}"/>
              </a:ext>
            </a:extLst>
          </p:cNvPr>
          <p:cNvSpPr/>
          <p:nvPr/>
        </p:nvSpPr>
        <p:spPr>
          <a:xfrm>
            <a:off x="11399520" y="304800"/>
            <a:ext cx="512064" cy="51206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100D48-349F-607A-36E4-7E076656CC4E}"/>
              </a:ext>
            </a:extLst>
          </p:cNvPr>
          <p:cNvSpPr txBox="1"/>
          <p:nvPr/>
        </p:nvSpPr>
        <p:spPr>
          <a:xfrm>
            <a:off x="490478" y="1788829"/>
            <a:ext cx="71994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Below is a new mystery dataset. Your task:</a:t>
            </a:r>
            <a:br>
              <a:rPr lang="en-US" dirty="0"/>
            </a:br>
            <a:endParaRPr lang="en-US" dirty="0"/>
          </a:p>
          <a:p>
            <a:r>
              <a:rPr lang="en-US" dirty="0"/>
              <a:t>1. Plot the data</a:t>
            </a:r>
          </a:p>
          <a:p>
            <a:r>
              <a:rPr lang="en-US" dirty="0"/>
              <a:t>2. Decide which model (linear, quadratic, or exponential) looks best</a:t>
            </a:r>
          </a:p>
          <a:p>
            <a:r>
              <a:rPr lang="en-US" dirty="0"/>
              <a:t>3. Fit that model using curve_fit</a:t>
            </a:r>
          </a:p>
          <a:p>
            <a:r>
              <a:rPr lang="en-US" dirty="0"/>
              <a:t>4. Plot the data with the fitted curve</a:t>
            </a:r>
          </a:p>
          <a:p>
            <a:r>
              <a:rPr lang="en-US" dirty="0"/>
              <a:t>5. Calculate R^2 and report the result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01348F-0D7E-2EBD-ED51-E057D406F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839" y="3914304"/>
            <a:ext cx="3480190" cy="203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16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F8F25-8329-0B18-5222-05EE625AD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>
            <a:extLst>
              <a:ext uri="{FF2B5EF4-FFF2-40B4-BE49-F238E27FC236}">
                <a16:creationId xmlns:a16="http://schemas.microsoft.com/office/drawing/2014/main" id="{97301D22-CD4E-41A4-E0B9-8377104924EC}"/>
              </a:ext>
            </a:extLst>
          </p:cNvPr>
          <p:cNvSpPr/>
          <p:nvPr/>
        </p:nvSpPr>
        <p:spPr>
          <a:xfrm>
            <a:off x="274320" y="1641106"/>
            <a:ext cx="11637264" cy="491209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BE9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29B0BE3F-6F0B-DF58-AC1A-D3CC69D2D6C4}"/>
              </a:ext>
            </a:extLst>
          </p:cNvPr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998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A38C86-CB21-A789-C1C4-C64B2A367503}"/>
              </a:ext>
            </a:extLst>
          </p:cNvPr>
          <p:cNvSpPr/>
          <p:nvPr/>
        </p:nvSpPr>
        <p:spPr>
          <a:xfrm>
            <a:off x="670560" y="146304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Practice: Fit Your Own Model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3D7AA9F-AC76-9280-4FC2-368602D0FB34}"/>
              </a:ext>
            </a:extLst>
          </p:cNvPr>
          <p:cNvSpPr/>
          <p:nvPr/>
        </p:nvSpPr>
        <p:spPr>
          <a:xfrm>
            <a:off x="11399520" y="304800"/>
            <a:ext cx="512064" cy="51206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B2C7C2-B2DE-CA39-E266-E82B2DBF7C94}"/>
              </a:ext>
            </a:extLst>
          </p:cNvPr>
          <p:cNvSpPr txBox="1"/>
          <p:nvPr/>
        </p:nvSpPr>
        <p:spPr>
          <a:xfrm>
            <a:off x="490478" y="1788829"/>
            <a:ext cx="7199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D4D229-F73B-48C0-1907-325DEC0AB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660" y="1641106"/>
            <a:ext cx="4864100" cy="4673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55FBCD-19DB-834E-8FD1-56389A500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398" y="2371973"/>
            <a:ext cx="4607185" cy="345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999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1174</Words>
  <Application>Microsoft Macintosh PowerPoint</Application>
  <PresentationFormat>Widescreen</PresentationFormat>
  <Paragraphs>159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Yihan</dc:creator>
  <cp:lastModifiedBy>Wang, Yihan</cp:lastModifiedBy>
  <cp:revision>2</cp:revision>
  <dcterms:created xsi:type="dcterms:W3CDTF">2026-06-25T13:01:01Z</dcterms:created>
  <dcterms:modified xsi:type="dcterms:W3CDTF">2026-06-26T01:07:43Z</dcterms:modified>
</cp:coreProperties>
</file>