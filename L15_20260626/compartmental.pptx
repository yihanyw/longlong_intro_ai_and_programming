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cPNrfpLTTmvFqfWbU3b3urLiO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26b29a3b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f26b29a3b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f26b29a3b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26b29a732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f26b29a732_1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f26b29a732_1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f70c1339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ef70c1339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ef70c1339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f70c1339a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ef70c1339a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ef70c1339a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f70c1339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ef70c1339a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ef70c1339a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f70c1339a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ef70c1339a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ef70c1339a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f70c1339a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ef70c1339a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g3ef70c1339a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1" name="Google Shape;3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6"/>
          <p:cNvSpPr/>
          <p:nvPr>
            <p:ph idx="2" type="pic"/>
          </p:nvPr>
        </p:nvSpPr>
        <p:spPr>
          <a:xfrm>
            <a:off x="5183188" y="987425"/>
            <a:ext cx="6172200" cy="4873625"/>
          </a:xfrm>
          <a:prstGeom prst="rect">
            <a:avLst/>
          </a:prstGeom>
          <a:noFill/>
          <a:ln>
            <a:noFill/>
          </a:ln>
        </p:spPr>
      </p:sp>
      <p:sp>
        <p:nvSpPr>
          <p:cNvPr id="69" name="Google Shape;69;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0" y="1828800"/>
            <a:ext cx="146304" cy="3169920"/>
          </a:xfrm>
          <a:prstGeom prst="rect">
            <a:avLst/>
          </a:prstGeom>
          <a:solidFill>
            <a:srgbClr val="8CD872"/>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92D050"/>
              </a:solidFill>
              <a:latin typeface="Arial"/>
              <a:ea typeface="Arial"/>
              <a:cs typeface="Arial"/>
              <a:sym typeface="Arial"/>
            </a:endParaRPr>
          </a:p>
        </p:txBody>
      </p:sp>
      <p:sp>
        <p:nvSpPr>
          <p:cNvPr id="91" name="Google Shape;91;p1"/>
          <p:cNvSpPr/>
          <p:nvPr/>
        </p:nvSpPr>
        <p:spPr>
          <a:xfrm>
            <a:off x="426720" y="2499360"/>
            <a:ext cx="529253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5067">
                <a:solidFill>
                  <a:srgbClr val="F2A982"/>
                </a:solidFill>
                <a:latin typeface="Cambria"/>
                <a:ea typeface="Cambria"/>
                <a:cs typeface="Cambria"/>
                <a:sym typeface="Cambria"/>
              </a:rPr>
              <a:t>Building Compartmental Models</a:t>
            </a:r>
            <a:endParaRPr sz="5067">
              <a:solidFill>
                <a:srgbClr val="F2A982"/>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7721600" y="554464"/>
            <a:ext cx="3251200" cy="3251200"/>
          </a:xfrm>
          <a:prstGeom prst="rect">
            <a:avLst/>
          </a:prstGeom>
          <a:noFill/>
          <a:ln>
            <a:noFill/>
          </a:ln>
        </p:spPr>
      </p:pic>
      <p:pic>
        <p:nvPicPr>
          <p:cNvPr id="93" name="Google Shape;93;p1"/>
          <p:cNvPicPr preferRelativeResize="0"/>
          <p:nvPr/>
        </p:nvPicPr>
        <p:blipFill rotWithShape="1">
          <a:blip r:embed="rId4">
            <a:alphaModFix/>
          </a:blip>
          <a:srcRect b="0" l="0" r="0" t="0"/>
          <a:stretch/>
        </p:blipFill>
        <p:spPr>
          <a:xfrm>
            <a:off x="5094825" y="2499360"/>
            <a:ext cx="3251200" cy="3251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00" name="Google Shape;100;p2"/>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01" name="Google Shape;101;p2"/>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What is Compartmental Models?</a:t>
            </a:r>
            <a:endParaRPr sz="4000">
              <a:solidFill>
                <a:schemeClr val="dk1"/>
              </a:solidFill>
              <a:latin typeface="Arial"/>
              <a:ea typeface="Arial"/>
              <a:cs typeface="Arial"/>
              <a:sym typeface="Arial"/>
            </a:endParaRPr>
          </a:p>
        </p:txBody>
      </p:sp>
      <p:sp>
        <p:nvSpPr>
          <p:cNvPr id="102" name="Google Shape;102;p2"/>
          <p:cNvSpPr/>
          <p:nvPr/>
        </p:nvSpPr>
        <p:spPr>
          <a:xfrm>
            <a:off x="304799" y="1524000"/>
            <a:ext cx="11356975" cy="2377440"/>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03" name="Google Shape;103;p2"/>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04" name="Google Shape;104;p2"/>
          <p:cNvSpPr/>
          <p:nvPr/>
        </p:nvSpPr>
        <p:spPr>
          <a:xfrm>
            <a:off x="524256" y="1743456"/>
            <a:ext cx="10867643" cy="12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A </a:t>
            </a:r>
            <a:r>
              <a:rPr b="1" lang="en-US" sz="1800">
                <a:solidFill>
                  <a:schemeClr val="lt1"/>
                </a:solidFill>
                <a:latin typeface="Arial"/>
                <a:ea typeface="Arial"/>
                <a:cs typeface="Arial"/>
                <a:sym typeface="Arial"/>
              </a:rPr>
              <a:t>compartmental model</a:t>
            </a:r>
            <a:r>
              <a:rPr lang="en-US" sz="1800">
                <a:solidFill>
                  <a:schemeClr val="lt1"/>
                </a:solidFill>
                <a:latin typeface="Arial"/>
                <a:ea typeface="Arial"/>
                <a:cs typeface="Arial"/>
                <a:sym typeface="Arial"/>
              </a:rPr>
              <a:t> is a mathematical way of representing a system by dividing it into separate “compartments” (or groups), and then describing how something moves or changes between those compartments over time</a:t>
            </a: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Think of it like splitting a population or system into categories and tracking how individuals or quantities flow between them.</a:t>
            </a:r>
            <a:endParaRPr/>
          </a:p>
        </p:txBody>
      </p:sp>
      <p:pic>
        <p:nvPicPr>
          <p:cNvPr id="105" name="Google Shape;105;p2"/>
          <p:cNvPicPr preferRelativeResize="0"/>
          <p:nvPr/>
        </p:nvPicPr>
        <p:blipFill rotWithShape="1">
          <a:blip r:embed="rId3">
            <a:alphaModFix/>
          </a:blip>
          <a:srcRect b="0" l="0" r="0" t="0"/>
          <a:stretch/>
        </p:blipFill>
        <p:spPr>
          <a:xfrm>
            <a:off x="1764035" y="4470399"/>
            <a:ext cx="1450897" cy="1450897"/>
          </a:xfrm>
          <a:prstGeom prst="rect">
            <a:avLst/>
          </a:prstGeom>
          <a:noFill/>
          <a:ln>
            <a:noFill/>
          </a:ln>
        </p:spPr>
      </p:pic>
      <p:pic>
        <p:nvPicPr>
          <p:cNvPr id="106" name="Google Shape;106;p2"/>
          <p:cNvPicPr preferRelativeResize="0"/>
          <p:nvPr/>
        </p:nvPicPr>
        <p:blipFill rotWithShape="1">
          <a:blip r:embed="rId4">
            <a:alphaModFix/>
          </a:blip>
          <a:srcRect b="0" l="0" r="0" t="0"/>
          <a:stretch/>
        </p:blipFill>
        <p:spPr>
          <a:xfrm>
            <a:off x="345105" y="4470398"/>
            <a:ext cx="1450897" cy="1450897"/>
          </a:xfrm>
          <a:prstGeom prst="rect">
            <a:avLst/>
          </a:prstGeom>
          <a:noFill/>
          <a:ln>
            <a:noFill/>
          </a:ln>
        </p:spPr>
      </p:pic>
      <p:pic>
        <p:nvPicPr>
          <p:cNvPr id="107" name="Google Shape;107;p2"/>
          <p:cNvPicPr preferRelativeResize="0"/>
          <p:nvPr/>
        </p:nvPicPr>
        <p:blipFill rotWithShape="1">
          <a:blip r:embed="rId5">
            <a:alphaModFix/>
          </a:blip>
          <a:srcRect b="0" l="0" r="0" t="0"/>
          <a:stretch/>
        </p:blipFill>
        <p:spPr>
          <a:xfrm>
            <a:off x="3467310" y="4608551"/>
            <a:ext cx="982175" cy="982175"/>
          </a:xfrm>
          <a:prstGeom prst="rect">
            <a:avLst/>
          </a:prstGeom>
          <a:noFill/>
          <a:ln>
            <a:noFill/>
          </a:ln>
        </p:spPr>
      </p:pic>
      <p:pic>
        <p:nvPicPr>
          <p:cNvPr id="108" name="Google Shape;108;p2"/>
          <p:cNvPicPr preferRelativeResize="0"/>
          <p:nvPr/>
        </p:nvPicPr>
        <p:blipFill rotWithShape="1">
          <a:blip r:embed="rId6">
            <a:alphaModFix/>
          </a:blip>
          <a:srcRect b="0" l="0" r="0" t="0"/>
          <a:stretch/>
        </p:blipFill>
        <p:spPr>
          <a:xfrm>
            <a:off x="5173701" y="4459000"/>
            <a:ext cx="6218198" cy="154382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5" name="Google Shape;115;p3"/>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6" name="Google Shape;116;p3"/>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Common example: Disease spread</a:t>
            </a:r>
            <a:endParaRPr sz="4000">
              <a:solidFill>
                <a:schemeClr val="dk1"/>
              </a:solidFill>
              <a:latin typeface="Arial"/>
              <a:ea typeface="Arial"/>
              <a:cs typeface="Arial"/>
              <a:sym typeface="Arial"/>
            </a:endParaRPr>
          </a:p>
        </p:txBody>
      </p:sp>
      <p:sp>
        <p:nvSpPr>
          <p:cNvPr id="117" name="Google Shape;117;p3"/>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18" name="Google Shape;118;p3"/>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19" name="Google Shape;119;p3"/>
          <p:cNvSpPr/>
          <p:nvPr/>
        </p:nvSpPr>
        <p:spPr>
          <a:xfrm>
            <a:off x="524256" y="1743457"/>
            <a:ext cx="10867643"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The model consists of 3 groups: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S (Susceptible): people who can catch the disease</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I (Infected): people who have the disease and can spread it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R (Recovered): people who have recovered and are immune</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The model uses equations to describe how people move between groups each step (rate of change every step)</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from S -&gt; I (when they get infected)</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from I -&gt; R (when they recover)</a:t>
            </a:r>
            <a:endParaRPr/>
          </a:p>
        </p:txBody>
      </p:sp>
      <p:pic>
        <p:nvPicPr>
          <p:cNvPr id="120" name="Google Shape;120;p3"/>
          <p:cNvPicPr preferRelativeResize="0"/>
          <p:nvPr/>
        </p:nvPicPr>
        <p:blipFill rotWithShape="1">
          <a:blip r:embed="rId3">
            <a:alphaModFix/>
          </a:blip>
          <a:srcRect b="0" l="0" r="0" t="0"/>
          <a:stretch/>
        </p:blipFill>
        <p:spPr>
          <a:xfrm>
            <a:off x="1764035" y="4724686"/>
            <a:ext cx="1450897" cy="1450897"/>
          </a:xfrm>
          <a:prstGeom prst="rect">
            <a:avLst/>
          </a:prstGeom>
          <a:noFill/>
          <a:ln>
            <a:noFill/>
          </a:ln>
        </p:spPr>
      </p:pic>
      <p:pic>
        <p:nvPicPr>
          <p:cNvPr id="121" name="Google Shape;121;p3"/>
          <p:cNvPicPr preferRelativeResize="0"/>
          <p:nvPr/>
        </p:nvPicPr>
        <p:blipFill rotWithShape="1">
          <a:blip r:embed="rId4">
            <a:alphaModFix/>
          </a:blip>
          <a:srcRect b="0" l="0" r="0" t="0"/>
          <a:stretch/>
        </p:blipFill>
        <p:spPr>
          <a:xfrm>
            <a:off x="345105" y="4724685"/>
            <a:ext cx="1450897" cy="1450897"/>
          </a:xfrm>
          <a:prstGeom prst="rect">
            <a:avLst/>
          </a:prstGeom>
          <a:noFill/>
          <a:ln>
            <a:noFill/>
          </a:ln>
        </p:spPr>
      </p:pic>
      <p:pic>
        <p:nvPicPr>
          <p:cNvPr id="122" name="Google Shape;122;p3"/>
          <p:cNvPicPr preferRelativeResize="0"/>
          <p:nvPr/>
        </p:nvPicPr>
        <p:blipFill rotWithShape="1">
          <a:blip r:embed="rId5">
            <a:alphaModFix/>
          </a:blip>
          <a:srcRect b="0" l="0" r="0" t="0"/>
          <a:stretch/>
        </p:blipFill>
        <p:spPr>
          <a:xfrm>
            <a:off x="3467310" y="4862838"/>
            <a:ext cx="982175" cy="982175"/>
          </a:xfrm>
          <a:prstGeom prst="rect">
            <a:avLst/>
          </a:prstGeom>
          <a:noFill/>
          <a:ln>
            <a:noFill/>
          </a:ln>
        </p:spPr>
      </p:pic>
      <p:pic>
        <p:nvPicPr>
          <p:cNvPr id="123" name="Google Shape;123;p3"/>
          <p:cNvPicPr preferRelativeResize="0"/>
          <p:nvPr/>
        </p:nvPicPr>
        <p:blipFill rotWithShape="1">
          <a:blip r:embed="rId6">
            <a:alphaModFix/>
          </a:blip>
          <a:srcRect b="0" l="0" r="0" t="0"/>
          <a:stretch/>
        </p:blipFill>
        <p:spPr>
          <a:xfrm>
            <a:off x="5173701" y="4459000"/>
            <a:ext cx="6218198" cy="15438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30" name="Google Shape;130;p4"/>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31" name="Google Shape;131;p4"/>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Common example: Disease spread</a:t>
            </a:r>
            <a:endParaRPr sz="4000">
              <a:solidFill>
                <a:schemeClr val="dk1"/>
              </a:solidFill>
              <a:latin typeface="Arial"/>
              <a:ea typeface="Arial"/>
              <a:cs typeface="Arial"/>
              <a:sym typeface="Arial"/>
            </a:endParaRPr>
          </a:p>
        </p:txBody>
      </p:sp>
      <p:sp>
        <p:nvSpPr>
          <p:cNvPr id="132" name="Google Shape;132;p4"/>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33" name="Google Shape;133;p4"/>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34" name="Google Shape;134;p4"/>
          <p:cNvSpPr/>
          <p:nvPr/>
        </p:nvSpPr>
        <p:spPr>
          <a:xfrm>
            <a:off x="524256" y="1743457"/>
            <a:ext cx="10867643"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The model consists of 3 groups: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S (Susceptible): people who can catch the disease</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I (Infected): people who have the disease and can spread it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R (Recovered): people who have recovered and are immune</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The model uses equations to describe how people move between groups each step (rate of change every step)</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from S -&gt; I (when they get infected)</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from I -&gt; R (when they recover)</a:t>
            </a:r>
            <a:endParaRPr/>
          </a:p>
        </p:txBody>
      </p:sp>
      <p:pic>
        <p:nvPicPr>
          <p:cNvPr id="135" name="Google Shape;135;p4"/>
          <p:cNvPicPr preferRelativeResize="0"/>
          <p:nvPr/>
        </p:nvPicPr>
        <p:blipFill rotWithShape="1">
          <a:blip r:embed="rId3">
            <a:alphaModFix/>
          </a:blip>
          <a:srcRect b="0" l="0" r="0" t="0"/>
          <a:stretch/>
        </p:blipFill>
        <p:spPr>
          <a:xfrm>
            <a:off x="1764035" y="4724686"/>
            <a:ext cx="1450897" cy="1450897"/>
          </a:xfrm>
          <a:prstGeom prst="rect">
            <a:avLst/>
          </a:prstGeom>
          <a:noFill/>
          <a:ln>
            <a:noFill/>
          </a:ln>
        </p:spPr>
      </p:pic>
      <p:pic>
        <p:nvPicPr>
          <p:cNvPr id="136" name="Google Shape;136;p4"/>
          <p:cNvPicPr preferRelativeResize="0"/>
          <p:nvPr/>
        </p:nvPicPr>
        <p:blipFill rotWithShape="1">
          <a:blip r:embed="rId4">
            <a:alphaModFix/>
          </a:blip>
          <a:srcRect b="0" l="0" r="0" t="0"/>
          <a:stretch/>
        </p:blipFill>
        <p:spPr>
          <a:xfrm>
            <a:off x="345105" y="4724685"/>
            <a:ext cx="1450897" cy="1450897"/>
          </a:xfrm>
          <a:prstGeom prst="rect">
            <a:avLst/>
          </a:prstGeom>
          <a:noFill/>
          <a:ln>
            <a:noFill/>
          </a:ln>
        </p:spPr>
      </p:pic>
      <p:pic>
        <p:nvPicPr>
          <p:cNvPr id="137" name="Google Shape;137;p4"/>
          <p:cNvPicPr preferRelativeResize="0"/>
          <p:nvPr/>
        </p:nvPicPr>
        <p:blipFill rotWithShape="1">
          <a:blip r:embed="rId5">
            <a:alphaModFix/>
          </a:blip>
          <a:srcRect b="0" l="0" r="0" t="0"/>
          <a:stretch/>
        </p:blipFill>
        <p:spPr>
          <a:xfrm>
            <a:off x="3467310" y="4862838"/>
            <a:ext cx="982175" cy="982175"/>
          </a:xfrm>
          <a:prstGeom prst="rect">
            <a:avLst/>
          </a:prstGeom>
          <a:noFill/>
          <a:ln>
            <a:noFill/>
          </a:ln>
        </p:spPr>
      </p:pic>
      <p:pic>
        <p:nvPicPr>
          <p:cNvPr id="138" name="Google Shape;138;p4"/>
          <p:cNvPicPr preferRelativeResize="0"/>
          <p:nvPr/>
        </p:nvPicPr>
        <p:blipFill rotWithShape="1">
          <a:blip r:embed="rId6">
            <a:alphaModFix/>
          </a:blip>
          <a:srcRect b="0" l="0" r="0" t="0"/>
          <a:stretch/>
        </p:blipFill>
        <p:spPr>
          <a:xfrm>
            <a:off x="5173701" y="4459000"/>
            <a:ext cx="6218198" cy="15438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45" name="Google Shape;145;p5"/>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46" name="Google Shape;146;p5"/>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Let’s build the basic SIR model</a:t>
            </a:r>
            <a:endParaRPr sz="4000">
              <a:solidFill>
                <a:schemeClr val="dk1"/>
              </a:solidFill>
              <a:latin typeface="Arial"/>
              <a:ea typeface="Arial"/>
              <a:cs typeface="Arial"/>
              <a:sym typeface="Arial"/>
            </a:endParaRPr>
          </a:p>
        </p:txBody>
      </p:sp>
      <p:sp>
        <p:nvSpPr>
          <p:cNvPr id="147" name="Google Shape;147;p5"/>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48" name="Google Shape;148;p5"/>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49" name="Google Shape;149;p5"/>
          <p:cNvSpPr/>
          <p:nvPr/>
        </p:nvSpPr>
        <p:spPr>
          <a:xfrm>
            <a:off x="524257" y="1743457"/>
            <a:ext cx="4962144"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We split the population into three compartments: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S(t): susceptible</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I(t): infected</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R(t): recovered</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Total population:	N = S + I + R</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p:txBody>
      </p:sp>
      <p:pic>
        <p:nvPicPr>
          <p:cNvPr id="150" name="Google Shape;150;p5"/>
          <p:cNvPicPr preferRelativeResize="0"/>
          <p:nvPr/>
        </p:nvPicPr>
        <p:blipFill rotWithShape="1">
          <a:blip r:embed="rId3">
            <a:alphaModFix/>
          </a:blip>
          <a:srcRect b="0" l="0" r="0" t="0"/>
          <a:stretch/>
        </p:blipFill>
        <p:spPr>
          <a:xfrm>
            <a:off x="1764035" y="4724686"/>
            <a:ext cx="1450897" cy="1450897"/>
          </a:xfrm>
          <a:prstGeom prst="rect">
            <a:avLst/>
          </a:prstGeom>
          <a:noFill/>
          <a:ln>
            <a:noFill/>
          </a:ln>
        </p:spPr>
      </p:pic>
      <p:pic>
        <p:nvPicPr>
          <p:cNvPr id="151" name="Google Shape;151;p5"/>
          <p:cNvPicPr preferRelativeResize="0"/>
          <p:nvPr/>
        </p:nvPicPr>
        <p:blipFill rotWithShape="1">
          <a:blip r:embed="rId4">
            <a:alphaModFix/>
          </a:blip>
          <a:srcRect b="0" l="0" r="0" t="0"/>
          <a:stretch/>
        </p:blipFill>
        <p:spPr>
          <a:xfrm>
            <a:off x="345105" y="4724685"/>
            <a:ext cx="1450897" cy="1450897"/>
          </a:xfrm>
          <a:prstGeom prst="rect">
            <a:avLst/>
          </a:prstGeom>
          <a:noFill/>
          <a:ln>
            <a:noFill/>
          </a:ln>
        </p:spPr>
      </p:pic>
      <p:pic>
        <p:nvPicPr>
          <p:cNvPr id="152" name="Google Shape;152;p5"/>
          <p:cNvPicPr preferRelativeResize="0"/>
          <p:nvPr/>
        </p:nvPicPr>
        <p:blipFill rotWithShape="1">
          <a:blip r:embed="rId5">
            <a:alphaModFix/>
          </a:blip>
          <a:srcRect b="0" l="0" r="0" t="0"/>
          <a:stretch/>
        </p:blipFill>
        <p:spPr>
          <a:xfrm>
            <a:off x="3467310" y="4862838"/>
            <a:ext cx="982175" cy="982175"/>
          </a:xfrm>
          <a:prstGeom prst="rect">
            <a:avLst/>
          </a:prstGeom>
          <a:noFill/>
          <a:ln>
            <a:noFill/>
          </a:ln>
        </p:spPr>
      </p:pic>
      <p:pic>
        <p:nvPicPr>
          <p:cNvPr id="153" name="Google Shape;153;p5"/>
          <p:cNvPicPr preferRelativeResize="0"/>
          <p:nvPr/>
        </p:nvPicPr>
        <p:blipFill rotWithShape="1">
          <a:blip r:embed="rId6">
            <a:alphaModFix/>
          </a:blip>
          <a:srcRect b="0" l="0" r="0" t="0"/>
          <a:stretch/>
        </p:blipFill>
        <p:spPr>
          <a:xfrm>
            <a:off x="5877393" y="2894375"/>
            <a:ext cx="1284490" cy="1173333"/>
          </a:xfrm>
          <a:prstGeom prst="rect">
            <a:avLst/>
          </a:prstGeom>
          <a:noFill/>
          <a:ln>
            <a:noFill/>
          </a:ln>
        </p:spPr>
      </p:pic>
      <p:pic>
        <p:nvPicPr>
          <p:cNvPr id="154" name="Google Shape;154;p5"/>
          <p:cNvPicPr preferRelativeResize="0"/>
          <p:nvPr/>
        </p:nvPicPr>
        <p:blipFill rotWithShape="1">
          <a:blip r:embed="rId7">
            <a:alphaModFix/>
          </a:blip>
          <a:srcRect b="0" l="0" r="0" t="0"/>
          <a:stretch/>
        </p:blipFill>
        <p:spPr>
          <a:xfrm>
            <a:off x="5173701" y="4459000"/>
            <a:ext cx="6218198" cy="1543828"/>
          </a:xfrm>
          <a:prstGeom prst="rect">
            <a:avLst/>
          </a:prstGeom>
          <a:noFill/>
          <a:ln>
            <a:noFill/>
          </a:ln>
        </p:spPr>
      </p:pic>
      <p:pic>
        <p:nvPicPr>
          <p:cNvPr id="155" name="Google Shape;155;p5"/>
          <p:cNvPicPr preferRelativeResize="0"/>
          <p:nvPr/>
        </p:nvPicPr>
        <p:blipFill rotWithShape="1">
          <a:blip r:embed="rId8">
            <a:alphaModFix/>
          </a:blip>
          <a:srcRect b="0" l="0" r="0" t="24659"/>
          <a:stretch/>
        </p:blipFill>
        <p:spPr>
          <a:xfrm>
            <a:off x="7431758" y="2894375"/>
            <a:ext cx="3960141" cy="1173333"/>
          </a:xfrm>
          <a:prstGeom prst="rect">
            <a:avLst/>
          </a:prstGeom>
          <a:noFill/>
          <a:ln>
            <a:noFill/>
          </a:ln>
        </p:spPr>
      </p:pic>
      <p:sp>
        <p:nvSpPr>
          <p:cNvPr id="156" name="Google Shape;156;p5"/>
          <p:cNvSpPr txBox="1"/>
          <p:nvPr/>
        </p:nvSpPr>
        <p:spPr>
          <a:xfrm>
            <a:off x="4371400" y="2415314"/>
            <a:ext cx="5508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 The differential equations: 	     The parameters: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63" name="Google Shape;163;p6"/>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64" name="Google Shape;164;p6"/>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Assignment instructions</a:t>
            </a:r>
            <a:endParaRPr sz="4000">
              <a:solidFill>
                <a:schemeClr val="dk1"/>
              </a:solidFill>
              <a:latin typeface="Arial"/>
              <a:ea typeface="Arial"/>
              <a:cs typeface="Arial"/>
              <a:sym typeface="Arial"/>
            </a:endParaRPr>
          </a:p>
        </p:txBody>
      </p:sp>
      <p:sp>
        <p:nvSpPr>
          <p:cNvPr id="165" name="Google Shape;165;p6"/>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66" name="Google Shape;166;p6"/>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67" name="Google Shape;167;p6"/>
          <p:cNvSpPr/>
          <p:nvPr/>
        </p:nvSpPr>
        <p:spPr>
          <a:xfrm>
            <a:off x="524256" y="1743457"/>
            <a:ext cx="10972651"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In today's class you will be building three compartmental models.   </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Form a group 2-3 students  </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You may start with  5 minutes to brainstorm with your group, drawing a variety of variants of possible models.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10 minutes to draw the model your group came up.   </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5 minutes share idea with the whole class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74" name="Google Shape;174;p7"/>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75" name="Google Shape;175;p7"/>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A Cold Spreads Through a Dorm</a:t>
            </a:r>
            <a:endParaRPr sz="4000">
              <a:solidFill>
                <a:schemeClr val="dk1"/>
              </a:solidFill>
              <a:latin typeface="Arial"/>
              <a:ea typeface="Arial"/>
              <a:cs typeface="Arial"/>
              <a:sym typeface="Arial"/>
            </a:endParaRPr>
          </a:p>
        </p:txBody>
      </p:sp>
      <p:sp>
        <p:nvSpPr>
          <p:cNvPr id="176" name="Google Shape;176;p7"/>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77" name="Google Shape;177;p7"/>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78" name="Google Shape;178;p7"/>
          <p:cNvSpPr/>
          <p:nvPr/>
        </p:nvSpPr>
        <p:spPr>
          <a:xfrm>
            <a:off x="524256" y="1743457"/>
            <a:ext cx="10972651"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A student in a college dorm gets sick on Monday. By Wednesday, several students on the same floor are coughing. Some students isolate in their rooms. Others recover and return to class.</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Think about:</a:t>
            </a: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What groups of students exist?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How do students move between groups?</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What causes the spread to speed up or slow down?</a:t>
            </a:r>
            <a:endParaRPr/>
          </a:p>
        </p:txBody>
      </p:sp>
      <p:pic>
        <p:nvPicPr>
          <p:cNvPr id="179" name="Google Shape;179;p7"/>
          <p:cNvPicPr preferRelativeResize="0"/>
          <p:nvPr/>
        </p:nvPicPr>
        <p:blipFill rotWithShape="1">
          <a:blip r:embed="rId3">
            <a:alphaModFix/>
          </a:blip>
          <a:srcRect b="0" l="0" r="0" t="0"/>
          <a:stretch/>
        </p:blipFill>
        <p:spPr>
          <a:xfrm>
            <a:off x="3199161" y="4363225"/>
            <a:ext cx="1941552" cy="1941552"/>
          </a:xfrm>
          <a:prstGeom prst="rect">
            <a:avLst/>
          </a:prstGeom>
          <a:noFill/>
          <a:ln>
            <a:noFill/>
          </a:ln>
        </p:spPr>
      </p:pic>
      <p:pic>
        <p:nvPicPr>
          <p:cNvPr id="180" name="Google Shape;180;p7"/>
          <p:cNvPicPr preferRelativeResize="0"/>
          <p:nvPr/>
        </p:nvPicPr>
        <p:blipFill rotWithShape="1">
          <a:blip r:embed="rId4">
            <a:alphaModFix/>
          </a:blip>
          <a:srcRect b="0" l="0" r="0" t="0"/>
          <a:stretch/>
        </p:blipFill>
        <p:spPr>
          <a:xfrm>
            <a:off x="5983286" y="4485889"/>
            <a:ext cx="1696224" cy="16962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87" name="Google Shape;187;p8"/>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88" name="Google Shape;188;p8"/>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A Viral Dance Trend on TikTok</a:t>
            </a:r>
            <a:endParaRPr sz="4000">
              <a:solidFill>
                <a:schemeClr val="dk1"/>
              </a:solidFill>
              <a:latin typeface="Arial"/>
              <a:ea typeface="Arial"/>
              <a:cs typeface="Arial"/>
              <a:sym typeface="Arial"/>
            </a:endParaRPr>
          </a:p>
        </p:txBody>
      </p:sp>
      <p:sp>
        <p:nvSpPr>
          <p:cNvPr id="189" name="Google Shape;189;p8"/>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190" name="Google Shape;190;p8"/>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191" name="Google Shape;191;p8"/>
          <p:cNvSpPr/>
          <p:nvPr/>
        </p:nvSpPr>
        <p:spPr>
          <a:xfrm>
            <a:off x="524256" y="1743457"/>
            <a:ext cx="10972651"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A new dance trend appears online. At first only a few people share it. Then suddenly everyone seems to repost it. After two weeks, people get bored and move on.</a:t>
            </a: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Think about: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Who has not seen the trend?</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Who is actively sharing it?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Who lost interest?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How does the trend “spread” like a disease?</a:t>
            </a:r>
            <a:endParaRPr/>
          </a:p>
        </p:txBody>
      </p:sp>
      <p:pic>
        <p:nvPicPr>
          <p:cNvPr descr="Dance - Free birthday and party icons" id="192" name="Google Shape;192;p8"/>
          <p:cNvPicPr preferRelativeResize="0"/>
          <p:nvPr/>
        </p:nvPicPr>
        <p:blipFill rotWithShape="1">
          <a:blip r:embed="rId3">
            <a:alphaModFix/>
          </a:blip>
          <a:srcRect b="0" l="0" r="0" t="0"/>
          <a:stretch/>
        </p:blipFill>
        <p:spPr>
          <a:xfrm>
            <a:off x="6096000" y="4434619"/>
            <a:ext cx="1858387" cy="1858387"/>
          </a:xfrm>
          <a:prstGeom prst="rect">
            <a:avLst/>
          </a:prstGeom>
          <a:noFill/>
          <a:ln>
            <a:noFill/>
          </a:ln>
        </p:spPr>
      </p:pic>
      <p:pic>
        <p:nvPicPr>
          <p:cNvPr descr="Dance - Free birthday and party icons" id="193" name="Google Shape;193;p8"/>
          <p:cNvPicPr preferRelativeResize="0"/>
          <p:nvPr/>
        </p:nvPicPr>
        <p:blipFill rotWithShape="1">
          <a:blip r:embed="rId3">
            <a:alphaModFix/>
          </a:blip>
          <a:srcRect b="0" l="0" r="0" t="0"/>
          <a:stretch/>
        </p:blipFill>
        <p:spPr>
          <a:xfrm flipH="1">
            <a:off x="7652523" y="2811406"/>
            <a:ext cx="3295187" cy="32951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0" name="Google Shape;200;p9"/>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01" name="Google Shape;201;p9"/>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Traffic Jam During Rush Hour</a:t>
            </a:r>
            <a:endParaRPr sz="4000">
              <a:solidFill>
                <a:schemeClr val="dk1"/>
              </a:solidFill>
              <a:latin typeface="Arial"/>
              <a:ea typeface="Arial"/>
              <a:cs typeface="Arial"/>
              <a:sym typeface="Arial"/>
            </a:endParaRPr>
          </a:p>
        </p:txBody>
      </p:sp>
      <p:sp>
        <p:nvSpPr>
          <p:cNvPr id="202" name="Google Shape;202;p9"/>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03" name="Google Shape;203;p9"/>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204" name="Google Shape;204;p9"/>
          <p:cNvSpPr/>
          <p:nvPr/>
        </p:nvSpPr>
        <p:spPr>
          <a:xfrm>
            <a:off x="524256" y="1743457"/>
            <a:ext cx="10972651"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Cars move smoothly early in the morning. As more vehicles enter the highway, traffic slows. One small accident causes a long traffic jam. Eventually the road clears again.</a:t>
            </a: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Think about: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What traffic “states” exist?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How do cars transition between them?</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What factors create bottlenecks?</a:t>
            </a:r>
            <a:endParaRPr/>
          </a:p>
        </p:txBody>
      </p:sp>
      <p:pic>
        <p:nvPicPr>
          <p:cNvPr descr="Car - Free transport icons" id="205" name="Google Shape;205;p9"/>
          <p:cNvPicPr preferRelativeResize="0"/>
          <p:nvPr/>
        </p:nvPicPr>
        <p:blipFill rotWithShape="1">
          <a:blip r:embed="rId3">
            <a:alphaModFix/>
          </a:blip>
          <a:srcRect b="0" l="0" r="0" t="0"/>
          <a:stretch/>
        </p:blipFill>
        <p:spPr>
          <a:xfrm>
            <a:off x="2289717" y="4220737"/>
            <a:ext cx="2226527" cy="2226527"/>
          </a:xfrm>
          <a:prstGeom prst="rect">
            <a:avLst/>
          </a:prstGeom>
          <a:noFill/>
          <a:ln>
            <a:noFill/>
          </a:ln>
        </p:spPr>
      </p:pic>
      <p:pic>
        <p:nvPicPr>
          <p:cNvPr descr="Highway - Free transport icons" id="206" name="Google Shape;206;p9"/>
          <p:cNvPicPr preferRelativeResize="0"/>
          <p:nvPr/>
        </p:nvPicPr>
        <p:blipFill rotWithShape="1">
          <a:blip r:embed="rId4">
            <a:alphaModFix/>
          </a:blip>
          <a:srcRect b="0" l="0" r="0" t="0"/>
          <a:stretch/>
        </p:blipFill>
        <p:spPr>
          <a:xfrm>
            <a:off x="6799826" y="2377440"/>
            <a:ext cx="4083763" cy="40837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13" name="Google Shape;213;p10"/>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14" name="Google Shape;214;p10"/>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Forest Fire in Dry Weather</a:t>
            </a:r>
            <a:endParaRPr sz="4000">
              <a:solidFill>
                <a:schemeClr val="dk1"/>
              </a:solidFill>
              <a:latin typeface="Arial"/>
              <a:ea typeface="Arial"/>
              <a:cs typeface="Arial"/>
              <a:sym typeface="Arial"/>
            </a:endParaRPr>
          </a:p>
        </p:txBody>
      </p:sp>
      <p:sp>
        <p:nvSpPr>
          <p:cNvPr id="215" name="Google Shape;215;p10"/>
          <p:cNvSpPr/>
          <p:nvPr/>
        </p:nvSpPr>
        <p:spPr>
          <a:xfrm>
            <a:off x="304799" y="1523999"/>
            <a:ext cx="11356975"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16" name="Google Shape;216;p10"/>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217" name="Google Shape;217;p10"/>
          <p:cNvSpPr/>
          <p:nvPr/>
        </p:nvSpPr>
        <p:spPr>
          <a:xfrm>
            <a:off x="524256" y="1743457"/>
            <a:ext cx="10972651" cy="185838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A lightning strike starts a fire in a dry forest. Nearby trees catch fire quickly because of strong wind. Eventually the fire dies out after fuel is exhausted.</a:t>
            </a: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Think about:</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Which trees are vulnerable?</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Which are actively burning?</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Which are already destroyed?</a:t>
            </a:r>
            <a:endParaRPr/>
          </a:p>
          <a:p>
            <a:pPr indent="0" lvl="0" marL="0" marR="0" rtl="0" algn="l">
              <a:spcBef>
                <a:spcPts val="0"/>
              </a:spcBef>
              <a:spcAft>
                <a:spcPts val="0"/>
              </a:spcAft>
              <a:buNone/>
            </a:pPr>
            <a:r>
              <a:rPr lang="en-US" sz="1800">
                <a:solidFill>
                  <a:schemeClr val="lt1"/>
                </a:solidFill>
                <a:latin typeface="Arial"/>
                <a:ea typeface="Arial"/>
                <a:cs typeface="Arial"/>
                <a:sym typeface="Arial"/>
              </a:rPr>
              <a:t>- What controls how fast the fire spreads?</a:t>
            </a:r>
            <a:endParaRPr/>
          </a:p>
        </p:txBody>
      </p:sp>
      <p:pic>
        <p:nvPicPr>
          <p:cNvPr descr="Forest - Free nature icons" id="218" name="Google Shape;218;p10"/>
          <p:cNvPicPr preferRelativeResize="0"/>
          <p:nvPr/>
        </p:nvPicPr>
        <p:blipFill rotWithShape="1">
          <a:blip r:embed="rId3">
            <a:alphaModFix/>
          </a:blip>
          <a:srcRect b="0" l="0" r="0" t="0"/>
          <a:stretch/>
        </p:blipFill>
        <p:spPr>
          <a:xfrm>
            <a:off x="7221988" y="2568648"/>
            <a:ext cx="3731942" cy="3731942"/>
          </a:xfrm>
          <a:prstGeom prst="rect">
            <a:avLst/>
          </a:prstGeom>
          <a:noFill/>
          <a:ln>
            <a:noFill/>
          </a:ln>
        </p:spPr>
      </p:pic>
      <p:pic>
        <p:nvPicPr>
          <p:cNvPr descr="Forest - Free nature icons" id="219" name="Google Shape;219;p10"/>
          <p:cNvPicPr preferRelativeResize="0"/>
          <p:nvPr/>
        </p:nvPicPr>
        <p:blipFill rotWithShape="1">
          <a:blip r:embed="rId4">
            <a:alphaModFix/>
          </a:blip>
          <a:srcRect b="0" l="0" r="0" t="0"/>
          <a:stretch/>
        </p:blipFill>
        <p:spPr>
          <a:xfrm>
            <a:off x="4564008" y="4215161"/>
            <a:ext cx="2332463" cy="2332463"/>
          </a:xfrm>
          <a:prstGeom prst="rect">
            <a:avLst/>
          </a:prstGeom>
          <a:noFill/>
          <a:ln>
            <a:noFill/>
          </a:ln>
        </p:spPr>
      </p:pic>
      <p:pic>
        <p:nvPicPr>
          <p:cNvPr descr="Forest - Free nature icons" id="220" name="Google Shape;220;p10"/>
          <p:cNvPicPr preferRelativeResize="0"/>
          <p:nvPr/>
        </p:nvPicPr>
        <p:blipFill rotWithShape="1">
          <a:blip r:embed="rId4">
            <a:alphaModFix/>
          </a:blip>
          <a:srcRect b="0" l="0" r="0" t="0"/>
          <a:stretch/>
        </p:blipFill>
        <p:spPr>
          <a:xfrm>
            <a:off x="1947845" y="4215161"/>
            <a:ext cx="2332463" cy="23324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f26b29a3b6_0_0"/>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27" name="Google Shape;227;g3f26b29a3b6_0_0"/>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28" name="Google Shape;228;g3f26b29a3b6_0_0"/>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install Scipy</a:t>
            </a:r>
            <a:endParaRPr sz="4000">
              <a:solidFill>
                <a:schemeClr val="dk1"/>
              </a:solidFill>
              <a:latin typeface="Arial"/>
              <a:ea typeface="Arial"/>
              <a:cs typeface="Arial"/>
              <a:sym typeface="Arial"/>
            </a:endParaRPr>
          </a:p>
        </p:txBody>
      </p:sp>
      <p:sp>
        <p:nvSpPr>
          <p:cNvPr id="229" name="Google Shape;229;g3f26b29a3b6_0_0"/>
          <p:cNvSpPr/>
          <p:nvPr/>
        </p:nvSpPr>
        <p:spPr>
          <a:xfrm>
            <a:off x="304800" y="1524000"/>
            <a:ext cx="11357100" cy="31707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30" name="Google Shape;230;g3f26b29a3b6_0_0"/>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231" name="Google Shape;231;g3f26b29a3b6_0_0"/>
          <p:cNvSpPr/>
          <p:nvPr/>
        </p:nvSpPr>
        <p:spPr>
          <a:xfrm>
            <a:off x="524256" y="1743457"/>
            <a:ext cx="10972800" cy="185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rPr>
              <a:t>in terminal, run either one:</a:t>
            </a:r>
            <a:endParaRPr sz="1800">
              <a:solidFill>
                <a:schemeClr val="lt1"/>
              </a:solidFill>
            </a:endParaRPr>
          </a:p>
          <a:p>
            <a:pPr indent="0" lvl="0" marL="0" marR="0" rtl="0" algn="l">
              <a:spcBef>
                <a:spcPts val="0"/>
              </a:spcBef>
              <a:spcAft>
                <a:spcPts val="0"/>
              </a:spcAft>
              <a:buNone/>
            </a:pPr>
            <a:r>
              <a:t/>
            </a:r>
            <a:endParaRPr sz="1800">
              <a:solidFill>
                <a:schemeClr val="lt1"/>
              </a:solidFill>
            </a:endParaRPr>
          </a:p>
          <a:p>
            <a:pPr indent="0" lvl="0" marL="0" rtl="0" algn="l">
              <a:spcBef>
                <a:spcPts val="0"/>
              </a:spcBef>
              <a:spcAft>
                <a:spcPts val="0"/>
              </a:spcAft>
              <a:buClr>
                <a:schemeClr val="dk1"/>
              </a:buClr>
              <a:buSzPts val="1100"/>
              <a:buFont typeface="Arial"/>
              <a:buNone/>
            </a:pPr>
            <a:r>
              <a:rPr lang="en-US" sz="1800">
                <a:solidFill>
                  <a:schemeClr val="lt1"/>
                </a:solidFill>
              </a:rPr>
              <a:t>conda install -c conda-forge scipy</a:t>
            </a:r>
            <a:endParaRPr sz="1800">
              <a:solidFill>
                <a:schemeClr val="lt1"/>
              </a:solidFill>
            </a:endParaRPr>
          </a:p>
          <a:p>
            <a:pPr indent="0" lvl="0" marL="0" rtl="0" algn="l">
              <a:spcBef>
                <a:spcPts val="0"/>
              </a:spcBef>
              <a:spcAft>
                <a:spcPts val="0"/>
              </a:spcAft>
              <a:buClr>
                <a:schemeClr val="dk1"/>
              </a:buClr>
              <a:buSzPts val="1100"/>
              <a:buFont typeface="Arial"/>
              <a:buNone/>
            </a:pPr>
            <a:r>
              <a:t/>
            </a:r>
            <a:endParaRPr sz="1800">
              <a:solidFill>
                <a:schemeClr val="lt1"/>
              </a:solidFill>
            </a:endParaRPr>
          </a:p>
          <a:p>
            <a:pPr indent="0" lvl="0" marL="0" marR="0" rtl="0" algn="l">
              <a:spcBef>
                <a:spcPts val="0"/>
              </a:spcBef>
              <a:spcAft>
                <a:spcPts val="0"/>
              </a:spcAft>
              <a:buNone/>
            </a:pPr>
            <a:r>
              <a:rPr lang="en-US" sz="1800">
                <a:solidFill>
                  <a:schemeClr val="lt1"/>
                </a:solidFill>
              </a:rPr>
              <a:t>python -m pip install scipy</a:t>
            </a:r>
            <a:endParaRPr sz="1800">
              <a:solidFill>
                <a:schemeClr val="lt1"/>
              </a:solidFill>
            </a:endParaRPr>
          </a:p>
          <a:p>
            <a:pPr indent="0" lvl="0" marL="0" marR="0" rtl="0" algn="l">
              <a:spcBef>
                <a:spcPts val="0"/>
              </a:spcBef>
              <a:spcAft>
                <a:spcPts val="0"/>
              </a:spcAft>
              <a:buNone/>
            </a:pPr>
            <a:r>
              <a:t/>
            </a:r>
            <a:endParaRPr sz="1800">
              <a:solidFill>
                <a:schemeClr val="lt1"/>
              </a:solidFill>
            </a:endParaRPr>
          </a:p>
          <a:p>
            <a:pPr indent="0" lvl="0" marL="0" marR="0" rtl="0" algn="l">
              <a:spcBef>
                <a:spcPts val="0"/>
              </a:spcBef>
              <a:spcAft>
                <a:spcPts val="0"/>
              </a:spcAft>
              <a:buNone/>
            </a:pPr>
            <a:r>
              <a:rPr lang="en-US" sz="1800">
                <a:solidFill>
                  <a:schemeClr val="lt1"/>
                </a:solidFill>
              </a:rPr>
              <a:t>to import copy the following:</a:t>
            </a:r>
            <a:endParaRPr sz="1800">
              <a:solidFill>
                <a:schemeClr val="lt1"/>
              </a:solidFill>
            </a:endParaRPr>
          </a:p>
          <a:p>
            <a:pPr indent="0" lvl="0" marL="0" marR="0" rtl="0" algn="l">
              <a:spcBef>
                <a:spcPts val="0"/>
              </a:spcBef>
              <a:spcAft>
                <a:spcPts val="0"/>
              </a:spcAft>
              <a:buNone/>
            </a:pPr>
            <a:r>
              <a:t/>
            </a:r>
            <a:endParaRPr sz="1800">
              <a:solidFill>
                <a:schemeClr val="lt1"/>
              </a:solidFill>
            </a:endParaRPr>
          </a:p>
          <a:p>
            <a:pPr indent="0" lvl="0" marL="0" marR="0" rtl="0" algn="l">
              <a:spcBef>
                <a:spcPts val="0"/>
              </a:spcBef>
              <a:spcAft>
                <a:spcPts val="0"/>
              </a:spcAft>
              <a:buNone/>
            </a:pPr>
            <a:r>
              <a:rPr lang="en-US" sz="1800">
                <a:solidFill>
                  <a:schemeClr val="lt1"/>
                </a:solidFill>
              </a:rPr>
              <a:t>from scipy.integrate import solve_ivp</a:t>
            </a:r>
            <a:endParaRPr sz="1800">
              <a:solidFill>
                <a:schemeClr val="lt1"/>
              </a:solidFill>
            </a:endParaRPr>
          </a:p>
          <a:p>
            <a:pPr indent="0" lvl="0" marL="0" marR="0" rtl="0" algn="l">
              <a:spcBef>
                <a:spcPts val="0"/>
              </a:spcBef>
              <a:spcAft>
                <a:spcPts val="0"/>
              </a:spcAft>
              <a:buNone/>
            </a:pPr>
            <a:r>
              <a:rPr lang="en-US" sz="1800">
                <a:solidFill>
                  <a:schemeClr val="lt1"/>
                </a:solidFill>
              </a:rPr>
              <a:t>import numpy as np</a:t>
            </a:r>
            <a:endParaRPr sz="18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1"/>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38" name="Google Shape;238;p11"/>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39" name="Google Shape;239;p11"/>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 Let’s model the basic SIR model</a:t>
            </a:r>
            <a:endParaRPr sz="4000">
              <a:solidFill>
                <a:schemeClr val="dk1"/>
              </a:solidFill>
              <a:latin typeface="Arial"/>
              <a:ea typeface="Arial"/>
              <a:cs typeface="Arial"/>
              <a:sym typeface="Arial"/>
            </a:endParaRPr>
          </a:p>
        </p:txBody>
      </p:sp>
      <p:sp>
        <p:nvSpPr>
          <p:cNvPr id="240" name="Google Shape;240;p11"/>
          <p:cNvSpPr/>
          <p:nvPr/>
        </p:nvSpPr>
        <p:spPr>
          <a:xfrm>
            <a:off x="376517" y="3429000"/>
            <a:ext cx="6508378"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41" name="Google Shape;241;p11"/>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242" name="Google Shape;242;p11"/>
          <p:cNvPicPr preferRelativeResize="0"/>
          <p:nvPr/>
        </p:nvPicPr>
        <p:blipFill rotWithShape="1">
          <a:blip r:embed="rId3">
            <a:alphaModFix/>
          </a:blip>
          <a:srcRect b="0" l="0" r="0" t="0"/>
          <a:stretch/>
        </p:blipFill>
        <p:spPr>
          <a:xfrm>
            <a:off x="304798" y="1544440"/>
            <a:ext cx="6899275" cy="1712923"/>
          </a:xfrm>
          <a:prstGeom prst="rect">
            <a:avLst/>
          </a:prstGeom>
          <a:noFill/>
          <a:ln>
            <a:noFill/>
          </a:ln>
        </p:spPr>
      </p:pic>
      <p:pic>
        <p:nvPicPr>
          <p:cNvPr id="243" name="Google Shape;243;p11"/>
          <p:cNvPicPr preferRelativeResize="0"/>
          <p:nvPr/>
        </p:nvPicPr>
        <p:blipFill rotWithShape="1">
          <a:blip r:embed="rId4">
            <a:alphaModFix/>
          </a:blip>
          <a:srcRect b="0" l="0" r="0" t="0"/>
          <a:stretch/>
        </p:blipFill>
        <p:spPr>
          <a:xfrm>
            <a:off x="7204074" y="1486169"/>
            <a:ext cx="4457700" cy="4991100"/>
          </a:xfrm>
          <a:prstGeom prst="rect">
            <a:avLst/>
          </a:prstGeom>
          <a:noFill/>
          <a:ln>
            <a:noFill/>
          </a:ln>
        </p:spPr>
      </p:pic>
      <p:sp>
        <p:nvSpPr>
          <p:cNvPr id="244" name="Google Shape;244;p11"/>
          <p:cNvSpPr txBox="1"/>
          <p:nvPr/>
        </p:nvSpPr>
        <p:spPr>
          <a:xfrm>
            <a:off x="694944" y="3693459"/>
            <a:ext cx="59568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To model this in code, we will use the solve_ivp function from the scipy library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2"/>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1" name="Google Shape;251;p12"/>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2" name="Google Shape;252;p12"/>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 Let’s model the basic SIR model</a:t>
            </a:r>
            <a:endParaRPr sz="4000">
              <a:solidFill>
                <a:schemeClr val="dk1"/>
              </a:solidFill>
              <a:latin typeface="Arial"/>
              <a:ea typeface="Arial"/>
              <a:cs typeface="Arial"/>
              <a:sym typeface="Arial"/>
            </a:endParaRPr>
          </a:p>
        </p:txBody>
      </p:sp>
      <p:sp>
        <p:nvSpPr>
          <p:cNvPr id="253" name="Google Shape;253;p12"/>
          <p:cNvSpPr/>
          <p:nvPr/>
        </p:nvSpPr>
        <p:spPr>
          <a:xfrm>
            <a:off x="376517" y="3429000"/>
            <a:ext cx="5535887" cy="2691162"/>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54" name="Google Shape;254;p12"/>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255" name="Google Shape;255;p12"/>
          <p:cNvPicPr preferRelativeResize="0"/>
          <p:nvPr/>
        </p:nvPicPr>
        <p:blipFill rotWithShape="1">
          <a:blip r:embed="rId3">
            <a:alphaModFix/>
          </a:blip>
          <a:srcRect b="0" l="0" r="0" t="0"/>
          <a:stretch/>
        </p:blipFill>
        <p:spPr>
          <a:xfrm>
            <a:off x="304798" y="1544441"/>
            <a:ext cx="5279855" cy="1310860"/>
          </a:xfrm>
          <a:prstGeom prst="rect">
            <a:avLst/>
          </a:prstGeom>
          <a:noFill/>
          <a:ln>
            <a:noFill/>
          </a:ln>
        </p:spPr>
      </p:pic>
      <p:sp>
        <p:nvSpPr>
          <p:cNvPr id="256" name="Google Shape;256;p12"/>
          <p:cNvSpPr txBox="1"/>
          <p:nvPr/>
        </p:nvSpPr>
        <p:spPr>
          <a:xfrm>
            <a:off x="694944" y="3693459"/>
            <a:ext cx="521745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First let us define the initial parameters, population, and time span</a:t>
            </a:r>
            <a:endParaRPr/>
          </a:p>
        </p:txBody>
      </p:sp>
      <p:pic>
        <p:nvPicPr>
          <p:cNvPr id="257" name="Google Shape;257;p12"/>
          <p:cNvPicPr preferRelativeResize="0"/>
          <p:nvPr/>
        </p:nvPicPr>
        <p:blipFill rotWithShape="1">
          <a:blip r:embed="rId4">
            <a:alphaModFix/>
          </a:blip>
          <a:srcRect b="0" l="0" r="0" t="0"/>
          <a:stretch/>
        </p:blipFill>
        <p:spPr>
          <a:xfrm>
            <a:off x="6279597" y="1048993"/>
            <a:ext cx="5217459" cy="52889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3"/>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64" name="Google Shape;264;p13"/>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65" name="Google Shape;265;p13"/>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 Let’s model the basic SIR model</a:t>
            </a:r>
            <a:endParaRPr sz="4000">
              <a:solidFill>
                <a:schemeClr val="dk1"/>
              </a:solidFill>
              <a:latin typeface="Arial"/>
              <a:ea typeface="Arial"/>
              <a:cs typeface="Arial"/>
              <a:sym typeface="Arial"/>
            </a:endParaRPr>
          </a:p>
        </p:txBody>
      </p:sp>
      <p:sp>
        <p:nvSpPr>
          <p:cNvPr id="266" name="Google Shape;266;p13"/>
          <p:cNvSpPr/>
          <p:nvPr/>
        </p:nvSpPr>
        <p:spPr>
          <a:xfrm>
            <a:off x="376517" y="3054316"/>
            <a:ext cx="5903080" cy="3376964"/>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67" name="Google Shape;267;p13"/>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268" name="Google Shape;268;p13"/>
          <p:cNvPicPr preferRelativeResize="0"/>
          <p:nvPr/>
        </p:nvPicPr>
        <p:blipFill rotWithShape="1">
          <a:blip r:embed="rId3">
            <a:alphaModFix/>
          </a:blip>
          <a:srcRect b="0" l="0" r="0" t="0"/>
          <a:stretch/>
        </p:blipFill>
        <p:spPr>
          <a:xfrm>
            <a:off x="304798" y="1544441"/>
            <a:ext cx="5279855" cy="1310860"/>
          </a:xfrm>
          <a:prstGeom prst="rect">
            <a:avLst/>
          </a:prstGeom>
          <a:noFill/>
          <a:ln>
            <a:noFill/>
          </a:ln>
        </p:spPr>
      </p:pic>
      <p:sp>
        <p:nvSpPr>
          <p:cNvPr id="269" name="Google Shape;269;p13"/>
          <p:cNvSpPr txBox="1"/>
          <p:nvPr/>
        </p:nvSpPr>
        <p:spPr>
          <a:xfrm>
            <a:off x="694944" y="3160776"/>
            <a:ext cx="5217459"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Then let us define the SIR model functions.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 the parameters are the constants we are using</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 is the current step in time, y is the current population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Below are the rate of change in population of each group</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Finally, return current rate of change</a:t>
            </a:r>
            <a:endParaRPr/>
          </a:p>
        </p:txBody>
      </p:sp>
      <p:pic>
        <p:nvPicPr>
          <p:cNvPr id="270" name="Google Shape;270;p13"/>
          <p:cNvPicPr preferRelativeResize="0"/>
          <p:nvPr/>
        </p:nvPicPr>
        <p:blipFill rotWithShape="1">
          <a:blip r:embed="rId4">
            <a:alphaModFix/>
          </a:blip>
          <a:srcRect b="0" l="0" r="0" t="0"/>
          <a:stretch/>
        </p:blipFill>
        <p:spPr>
          <a:xfrm>
            <a:off x="6279597" y="2199870"/>
            <a:ext cx="5328533" cy="308930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4"/>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77" name="Google Shape;277;p14"/>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78" name="Google Shape;278;p14"/>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 Let’s model the basic SIR model</a:t>
            </a:r>
            <a:endParaRPr sz="4000">
              <a:solidFill>
                <a:schemeClr val="dk1"/>
              </a:solidFill>
              <a:latin typeface="Arial"/>
              <a:ea typeface="Arial"/>
              <a:cs typeface="Arial"/>
              <a:sym typeface="Arial"/>
            </a:endParaRPr>
          </a:p>
        </p:txBody>
      </p:sp>
      <p:sp>
        <p:nvSpPr>
          <p:cNvPr id="279" name="Google Shape;279;p14"/>
          <p:cNvSpPr/>
          <p:nvPr/>
        </p:nvSpPr>
        <p:spPr>
          <a:xfrm>
            <a:off x="376517" y="3054316"/>
            <a:ext cx="5903080" cy="2037637"/>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80" name="Google Shape;280;p14"/>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281" name="Google Shape;281;p14"/>
          <p:cNvPicPr preferRelativeResize="0"/>
          <p:nvPr/>
        </p:nvPicPr>
        <p:blipFill rotWithShape="1">
          <a:blip r:embed="rId3">
            <a:alphaModFix/>
          </a:blip>
          <a:srcRect b="0" l="0" r="0" t="0"/>
          <a:stretch/>
        </p:blipFill>
        <p:spPr>
          <a:xfrm>
            <a:off x="304798" y="1544441"/>
            <a:ext cx="5279855" cy="1310860"/>
          </a:xfrm>
          <a:prstGeom prst="rect">
            <a:avLst/>
          </a:prstGeom>
          <a:noFill/>
          <a:ln>
            <a:noFill/>
          </a:ln>
        </p:spPr>
      </p:pic>
      <p:sp>
        <p:nvSpPr>
          <p:cNvPr id="282" name="Google Shape;282;p14"/>
          <p:cNvSpPr txBox="1"/>
          <p:nvPr/>
        </p:nvSpPr>
        <p:spPr>
          <a:xfrm>
            <a:off x="694944" y="3160776"/>
            <a:ext cx="5217459"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Finally, let us give everything to the solve_ivp function, which will model the system from day 0 to 100, for 100 intervals (as what we defined)</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sol.y will return back lists of the population of each group at every step </a:t>
            </a:r>
            <a:endParaRPr/>
          </a:p>
        </p:txBody>
      </p:sp>
      <p:pic>
        <p:nvPicPr>
          <p:cNvPr id="283" name="Google Shape;283;p14"/>
          <p:cNvPicPr preferRelativeResize="0"/>
          <p:nvPr/>
        </p:nvPicPr>
        <p:blipFill rotWithShape="1">
          <a:blip r:embed="rId4">
            <a:alphaModFix/>
          </a:blip>
          <a:srcRect b="0" l="0" r="0" t="0"/>
          <a:stretch/>
        </p:blipFill>
        <p:spPr>
          <a:xfrm>
            <a:off x="6859494" y="1805532"/>
            <a:ext cx="4292600" cy="38764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f26b29a732_11_0"/>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90" name="Google Shape;290;g3f26b29a732_11_0"/>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91" name="Google Shape;291;g3f26b29a732_11_0"/>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install</a:t>
            </a:r>
            <a:endParaRPr sz="4000">
              <a:solidFill>
                <a:schemeClr val="dk1"/>
              </a:solidFill>
              <a:latin typeface="Arial"/>
              <a:ea typeface="Arial"/>
              <a:cs typeface="Arial"/>
              <a:sym typeface="Arial"/>
            </a:endParaRPr>
          </a:p>
        </p:txBody>
      </p:sp>
      <p:sp>
        <p:nvSpPr>
          <p:cNvPr id="292" name="Google Shape;292;g3f26b29a732_11_0"/>
          <p:cNvSpPr/>
          <p:nvPr/>
        </p:nvSpPr>
        <p:spPr>
          <a:xfrm>
            <a:off x="376525" y="1604123"/>
            <a:ext cx="5903100" cy="43857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293" name="Google Shape;293;g3f26b29a732_11_0"/>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294" name="Google Shape;294;g3f26b29a732_11_0"/>
          <p:cNvPicPr preferRelativeResize="0"/>
          <p:nvPr/>
        </p:nvPicPr>
        <p:blipFill rotWithShape="1">
          <a:blip r:embed="rId3">
            <a:alphaModFix/>
          </a:blip>
          <a:srcRect b="0" l="0" r="0" t="0"/>
          <a:stretch/>
        </p:blipFill>
        <p:spPr>
          <a:xfrm>
            <a:off x="6632998" y="1470866"/>
            <a:ext cx="5279856" cy="1310860"/>
          </a:xfrm>
          <a:prstGeom prst="rect">
            <a:avLst/>
          </a:prstGeom>
          <a:noFill/>
          <a:ln>
            <a:noFill/>
          </a:ln>
        </p:spPr>
      </p:pic>
      <p:sp>
        <p:nvSpPr>
          <p:cNvPr id="295" name="Google Shape;295;g3f26b29a732_11_0"/>
          <p:cNvSpPr txBox="1"/>
          <p:nvPr/>
        </p:nvSpPr>
        <p:spPr>
          <a:xfrm>
            <a:off x="719269" y="2307201"/>
            <a:ext cx="52176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to install in terminal type:</a:t>
            </a:r>
            <a:endParaRPr sz="1800">
              <a:solidFill>
                <a:schemeClr val="dk1"/>
              </a:solidFil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conda install conda-forge::matplotlib</a:t>
            </a:r>
            <a:endParaRPr sz="1800">
              <a:solidFill>
                <a:schemeClr val="dk1"/>
              </a:solidFil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or </a:t>
            </a:r>
            <a:endParaRPr sz="1800">
              <a:solidFill>
                <a:schemeClr val="dk1"/>
              </a:solidFil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python -m pip install -U matplotlib</a:t>
            </a:r>
            <a:endParaRPr sz="1800">
              <a:solidFill>
                <a:schemeClr val="dk1"/>
              </a:solidFil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to import:</a:t>
            </a:r>
            <a:endParaRPr sz="1800">
              <a:solidFill>
                <a:schemeClr val="dk1"/>
              </a:solidFil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rPr lang="en-US" sz="1800">
                <a:solidFill>
                  <a:schemeClr val="dk1"/>
                </a:solidFill>
              </a:rPr>
              <a:t>import matplotlib.pyplot as plt</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p:nvPr/>
        </p:nvSpPr>
        <p:spPr>
          <a:xfrm>
            <a:off x="0" y="0"/>
            <a:ext cx="12192000" cy="128016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02" name="Google Shape;302;p15"/>
          <p:cNvSpPr/>
          <p:nvPr/>
        </p:nvSpPr>
        <p:spPr>
          <a:xfrm>
            <a:off x="426720" y="426720"/>
            <a:ext cx="268224" cy="268224"/>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03" name="Google Shape;303;p15"/>
          <p:cNvSpPr/>
          <p:nvPr/>
        </p:nvSpPr>
        <p:spPr>
          <a:xfrm>
            <a:off x="853440" y="219456"/>
            <a:ext cx="9753600" cy="792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 Let’s model the basic SIR model</a:t>
            </a:r>
            <a:endParaRPr sz="4000">
              <a:solidFill>
                <a:schemeClr val="dk1"/>
              </a:solidFill>
              <a:latin typeface="Arial"/>
              <a:ea typeface="Arial"/>
              <a:cs typeface="Arial"/>
              <a:sym typeface="Arial"/>
            </a:endParaRPr>
          </a:p>
        </p:txBody>
      </p:sp>
      <p:sp>
        <p:nvSpPr>
          <p:cNvPr id="304" name="Google Shape;304;p15"/>
          <p:cNvSpPr/>
          <p:nvPr/>
        </p:nvSpPr>
        <p:spPr>
          <a:xfrm>
            <a:off x="376517" y="3054316"/>
            <a:ext cx="5903080" cy="2037637"/>
          </a:xfrm>
          <a:prstGeom prst="roundRect">
            <a:avLst>
              <a:gd fmla="val 5128" name="adj"/>
            </a:avLst>
          </a:prstGeom>
          <a:solidFill>
            <a:srgbClr val="F6C5AB"/>
          </a:solidFill>
          <a:ln>
            <a:noFill/>
          </a:ln>
          <a:effectLst>
            <a:outerShdw blurRad="101600" rotWithShape="0" algn="bl" dir="2700000" dist="25400">
              <a:srgbClr val="000000">
                <a:alpha val="25098"/>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05" name="Google Shape;305;p15"/>
          <p:cNvSpPr/>
          <p:nvPr/>
        </p:nvSpPr>
        <p:spPr>
          <a:xfrm>
            <a:off x="524256" y="1743456"/>
            <a:ext cx="633984"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306" name="Google Shape;306;p15"/>
          <p:cNvPicPr preferRelativeResize="0"/>
          <p:nvPr/>
        </p:nvPicPr>
        <p:blipFill rotWithShape="1">
          <a:blip r:embed="rId3">
            <a:alphaModFix/>
          </a:blip>
          <a:srcRect b="0" l="0" r="0" t="0"/>
          <a:stretch/>
        </p:blipFill>
        <p:spPr>
          <a:xfrm>
            <a:off x="304798" y="1544441"/>
            <a:ext cx="5279855" cy="1310860"/>
          </a:xfrm>
          <a:prstGeom prst="rect">
            <a:avLst/>
          </a:prstGeom>
          <a:noFill/>
          <a:ln>
            <a:noFill/>
          </a:ln>
        </p:spPr>
      </p:pic>
      <p:sp>
        <p:nvSpPr>
          <p:cNvPr id="307" name="Google Shape;307;p15"/>
          <p:cNvSpPr txBox="1"/>
          <p:nvPr/>
        </p:nvSpPr>
        <p:spPr>
          <a:xfrm>
            <a:off x="694944" y="3160776"/>
            <a:ext cx="521745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sol.t returns a list of the individual step intervals.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Let us plot the population of each group at each step</a:t>
            </a:r>
            <a:endParaRPr/>
          </a:p>
        </p:txBody>
      </p:sp>
      <p:pic>
        <p:nvPicPr>
          <p:cNvPr id="308" name="Google Shape;308;p15"/>
          <p:cNvPicPr preferRelativeResize="0"/>
          <p:nvPr/>
        </p:nvPicPr>
        <p:blipFill rotWithShape="1">
          <a:blip r:embed="rId4">
            <a:alphaModFix/>
          </a:blip>
          <a:srcRect b="0" l="0" r="0" t="0"/>
          <a:stretch/>
        </p:blipFill>
        <p:spPr>
          <a:xfrm>
            <a:off x="6120386" y="2073190"/>
            <a:ext cx="5766816" cy="340200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ef70c1339a_0_0"/>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15" name="Google Shape;315;g3ef70c1339a_0_0"/>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16" name="Google Shape;316;g3ef70c1339a_0_0"/>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Make your own model</a:t>
            </a:r>
            <a:endParaRPr sz="4000">
              <a:solidFill>
                <a:schemeClr val="dk1"/>
              </a:solidFill>
              <a:latin typeface="Arial"/>
              <a:ea typeface="Arial"/>
              <a:cs typeface="Arial"/>
              <a:sym typeface="Arial"/>
            </a:endParaRPr>
          </a:p>
        </p:txBody>
      </p:sp>
      <p:sp>
        <p:nvSpPr>
          <p:cNvPr id="317" name="Google Shape;317;g3ef70c1339a_0_0"/>
          <p:cNvSpPr/>
          <p:nvPr/>
        </p:nvSpPr>
        <p:spPr>
          <a:xfrm>
            <a:off x="426732" y="1743450"/>
            <a:ext cx="11161500" cy="20376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18" name="Google Shape;318;g3ef70c1339a_0_0"/>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319" name="Google Shape;319;g3ef70c1339a_0_0"/>
          <p:cNvSpPr txBox="1"/>
          <p:nvPr/>
        </p:nvSpPr>
        <p:spPr>
          <a:xfrm>
            <a:off x="745156" y="1849900"/>
            <a:ext cx="10460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rPr>
              <a:t>think of a topic that you are interested in. Define the groups of people in the system. Draw arrows to indicate how people flow from one group to another. After this, define the rate of change of each group (ex: people/day)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ef70c1339a_0_12"/>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26" name="Google Shape;326;g3ef70c1339a_0_12"/>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27" name="Google Shape;327;g3ef70c1339a_0_12"/>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Make your own model</a:t>
            </a:r>
            <a:endParaRPr sz="4000">
              <a:solidFill>
                <a:schemeClr val="dk1"/>
              </a:solidFill>
              <a:latin typeface="Arial"/>
              <a:ea typeface="Arial"/>
              <a:cs typeface="Arial"/>
              <a:sym typeface="Arial"/>
            </a:endParaRPr>
          </a:p>
        </p:txBody>
      </p:sp>
      <p:sp>
        <p:nvSpPr>
          <p:cNvPr id="328" name="Google Shape;328;g3ef70c1339a_0_12"/>
          <p:cNvSpPr/>
          <p:nvPr/>
        </p:nvSpPr>
        <p:spPr>
          <a:xfrm>
            <a:off x="304799" y="1523999"/>
            <a:ext cx="11357100" cy="26913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29" name="Google Shape;329;g3ef70c1339a_0_12"/>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sp>
        <p:nvSpPr>
          <p:cNvPr id="330" name="Google Shape;330;g3ef70c1339a_0_12"/>
          <p:cNvSpPr/>
          <p:nvPr/>
        </p:nvSpPr>
        <p:spPr>
          <a:xfrm>
            <a:off x="524257" y="1743457"/>
            <a:ext cx="4962000" cy="1858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lt1"/>
                </a:solidFill>
              </a:rPr>
              <a:t>Recall in the example model, w</a:t>
            </a:r>
            <a:r>
              <a:rPr lang="en-US" sz="1800">
                <a:solidFill>
                  <a:schemeClr val="lt1"/>
                </a:solidFill>
                <a:latin typeface="Arial"/>
                <a:ea typeface="Arial"/>
                <a:cs typeface="Arial"/>
                <a:sym typeface="Arial"/>
              </a:rPr>
              <a:t>e split the population into three compartments: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S(t): susceptible</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I(t): infected</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R(t): recovered</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800">
                <a:solidFill>
                  <a:schemeClr val="lt1"/>
                </a:solidFill>
                <a:latin typeface="Arial"/>
                <a:ea typeface="Arial"/>
                <a:cs typeface="Arial"/>
                <a:sym typeface="Arial"/>
              </a:rPr>
              <a:t>Total population:	N = S + I + R</a:t>
            </a:r>
            <a:endParaRPr/>
          </a:p>
          <a:p>
            <a:pPr indent="0" lvl="0" marL="0" marR="0" rtl="0" algn="l">
              <a:spcBef>
                <a:spcPts val="0"/>
              </a:spcBef>
              <a:spcAft>
                <a:spcPts val="0"/>
              </a:spcAft>
              <a:buNone/>
            </a:pPr>
            <a:r>
              <a:t/>
            </a:r>
            <a:endParaRPr sz="1800">
              <a:solidFill>
                <a:schemeClr val="lt1"/>
              </a:solidFill>
              <a:latin typeface="Arial"/>
              <a:ea typeface="Arial"/>
              <a:cs typeface="Arial"/>
              <a:sym typeface="Arial"/>
            </a:endParaRPr>
          </a:p>
          <a:p>
            <a:pPr indent="0" lvl="0" marL="0" marR="0" rtl="0" algn="l">
              <a:spcBef>
                <a:spcPts val="0"/>
              </a:spcBef>
              <a:spcAft>
                <a:spcPts val="0"/>
              </a:spcAft>
              <a:buNone/>
            </a:pPr>
            <a:br>
              <a:rPr lang="en-US" sz="1800">
                <a:solidFill>
                  <a:schemeClr val="lt1"/>
                </a:solidFill>
                <a:latin typeface="Arial"/>
                <a:ea typeface="Arial"/>
                <a:cs typeface="Arial"/>
                <a:sym typeface="Arial"/>
              </a:rPr>
            </a:br>
            <a:endParaRPr sz="1800">
              <a:solidFill>
                <a:schemeClr val="lt1"/>
              </a:solidFill>
              <a:latin typeface="Arial"/>
              <a:ea typeface="Arial"/>
              <a:cs typeface="Arial"/>
              <a:sym typeface="Arial"/>
            </a:endParaRPr>
          </a:p>
        </p:txBody>
      </p:sp>
      <p:pic>
        <p:nvPicPr>
          <p:cNvPr id="331" name="Google Shape;331;g3ef70c1339a_0_12"/>
          <p:cNvPicPr preferRelativeResize="0"/>
          <p:nvPr/>
        </p:nvPicPr>
        <p:blipFill rotWithShape="1">
          <a:blip r:embed="rId3">
            <a:alphaModFix/>
          </a:blip>
          <a:srcRect b="0" l="0" r="0" t="0"/>
          <a:stretch/>
        </p:blipFill>
        <p:spPr>
          <a:xfrm>
            <a:off x="5641918" y="2377350"/>
            <a:ext cx="1284490" cy="1173333"/>
          </a:xfrm>
          <a:prstGeom prst="rect">
            <a:avLst/>
          </a:prstGeom>
          <a:noFill/>
          <a:ln>
            <a:noFill/>
          </a:ln>
        </p:spPr>
      </p:pic>
      <p:pic>
        <p:nvPicPr>
          <p:cNvPr id="332" name="Google Shape;332;g3ef70c1339a_0_12"/>
          <p:cNvPicPr preferRelativeResize="0"/>
          <p:nvPr/>
        </p:nvPicPr>
        <p:blipFill rotWithShape="1">
          <a:blip r:embed="rId4">
            <a:alphaModFix/>
          </a:blip>
          <a:srcRect b="0" l="0" r="0" t="0"/>
          <a:stretch/>
        </p:blipFill>
        <p:spPr>
          <a:xfrm>
            <a:off x="6456257" y="-14775"/>
            <a:ext cx="5843918" cy="1450900"/>
          </a:xfrm>
          <a:prstGeom prst="rect">
            <a:avLst/>
          </a:prstGeom>
          <a:noFill/>
          <a:ln>
            <a:noFill/>
          </a:ln>
        </p:spPr>
      </p:pic>
      <p:pic>
        <p:nvPicPr>
          <p:cNvPr id="333" name="Google Shape;333;g3ef70c1339a_0_12"/>
          <p:cNvPicPr preferRelativeResize="0"/>
          <p:nvPr/>
        </p:nvPicPr>
        <p:blipFill rotWithShape="1">
          <a:blip r:embed="rId5">
            <a:alphaModFix/>
          </a:blip>
          <a:srcRect b="0" l="0" r="0" t="24659"/>
          <a:stretch/>
        </p:blipFill>
        <p:spPr>
          <a:xfrm>
            <a:off x="7211008" y="2377350"/>
            <a:ext cx="3960140" cy="1173333"/>
          </a:xfrm>
          <a:prstGeom prst="rect">
            <a:avLst/>
          </a:prstGeom>
          <a:noFill/>
          <a:ln>
            <a:noFill/>
          </a:ln>
        </p:spPr>
      </p:pic>
      <p:sp>
        <p:nvSpPr>
          <p:cNvPr id="334" name="Google Shape;334;g3ef70c1339a_0_12"/>
          <p:cNvSpPr txBox="1"/>
          <p:nvPr/>
        </p:nvSpPr>
        <p:spPr>
          <a:xfrm>
            <a:off x="5018925" y="1768552"/>
            <a:ext cx="5508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 The differential equations: 	     The parameters: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ef70c1339a_0_38"/>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41" name="Google Shape;341;g3ef70c1339a_0_38"/>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42" name="Google Shape;342;g3ef70c1339a_0_38"/>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Make your own model</a:t>
            </a:r>
            <a:endParaRPr sz="4000">
              <a:solidFill>
                <a:schemeClr val="dk1"/>
              </a:solidFill>
              <a:latin typeface="Arial"/>
              <a:ea typeface="Arial"/>
              <a:cs typeface="Arial"/>
              <a:sym typeface="Arial"/>
            </a:endParaRPr>
          </a:p>
        </p:txBody>
      </p:sp>
      <p:sp>
        <p:nvSpPr>
          <p:cNvPr id="343" name="Google Shape;343;g3ef70c1339a_0_38"/>
          <p:cNvSpPr/>
          <p:nvPr/>
        </p:nvSpPr>
        <p:spPr>
          <a:xfrm>
            <a:off x="304800" y="1524000"/>
            <a:ext cx="11357100" cy="36633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44" name="Google Shape;344;g3ef70c1339a_0_38"/>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345" name="Google Shape;345;g3ef70c1339a_0_38"/>
          <p:cNvPicPr preferRelativeResize="0"/>
          <p:nvPr/>
        </p:nvPicPr>
        <p:blipFill rotWithShape="1">
          <a:blip r:embed="rId3">
            <a:alphaModFix/>
          </a:blip>
          <a:srcRect b="0" l="0" r="0" t="0"/>
          <a:stretch/>
        </p:blipFill>
        <p:spPr>
          <a:xfrm>
            <a:off x="3061395" y="5348463"/>
            <a:ext cx="5843918" cy="1450900"/>
          </a:xfrm>
          <a:prstGeom prst="rect">
            <a:avLst/>
          </a:prstGeom>
          <a:noFill/>
          <a:ln>
            <a:noFill/>
          </a:ln>
        </p:spPr>
      </p:pic>
      <p:sp>
        <p:nvSpPr>
          <p:cNvPr id="346" name="Google Shape;346;g3ef70c1339a_0_38"/>
          <p:cNvSpPr txBox="1"/>
          <p:nvPr/>
        </p:nvSpPr>
        <p:spPr>
          <a:xfrm>
            <a:off x="574050" y="1640875"/>
            <a:ext cx="11043900" cy="18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how are the derivatives defined? </a:t>
            </a:r>
            <a:endParaRPr sz="1800">
              <a:solidFill>
                <a:schemeClr val="dk1"/>
              </a:solidFill>
            </a:endParaRPr>
          </a:p>
          <a:p>
            <a:pPr indent="0" lvl="0" marL="0" rtl="0" algn="l">
              <a:spcBef>
                <a:spcPts val="0"/>
              </a:spcBef>
              <a:spcAft>
                <a:spcPts val="0"/>
              </a:spcAft>
              <a:buNone/>
            </a:pPr>
            <a:r>
              <a:rPr lang="en-US" sz="1800">
                <a:solidFill>
                  <a:schemeClr val="dk1"/>
                </a:solidFill>
              </a:rPr>
              <a:t>for dS/dt - </a:t>
            </a:r>
            <a:endParaRPr sz="1800">
              <a:solidFill>
                <a:schemeClr val="dk1"/>
              </a:solidFill>
            </a:endParaRPr>
          </a:p>
          <a:p>
            <a:pPr indent="0" lvl="0" marL="0" rtl="0" algn="l">
              <a:spcBef>
                <a:spcPts val="0"/>
              </a:spcBef>
              <a:spcAft>
                <a:spcPts val="0"/>
              </a:spcAft>
              <a:buNone/>
            </a:pPr>
            <a:r>
              <a:rPr lang="en-US" sz="1800">
                <a:solidFill>
                  <a:schemeClr val="dk1"/>
                </a:solidFill>
              </a:rPr>
              <a:t>The number of susceptible people decreases only when they become infected.</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To model infections, we assume:</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800">
                <a:solidFill>
                  <a:schemeClr val="dk1"/>
                </a:solidFill>
              </a:rPr>
              <a:t>each infected person has about β potentially infectious contacts per unit time;</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800">
                <a:solidFill>
                  <a:schemeClr val="dk1"/>
                </a:solidFill>
              </a:rPr>
              <a:t>the probability that a contact is with a susceptible person is</a:t>
            </a:r>
            <a:br>
              <a:rPr lang="en-US" sz="1800">
                <a:solidFill>
                  <a:schemeClr val="dk1"/>
                </a:solidFill>
              </a:rPr>
            </a:br>
            <a:r>
              <a:rPr lang="en-US" sz="1800">
                <a:solidFill>
                  <a:schemeClr val="dk1"/>
                </a:solidFill>
              </a:rPr>
              <a:t>S/N, since S out of the N people are susceptible.</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So one infected person causes approximately βS/N​ new infections per unit time. </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In total: I * </a:t>
            </a:r>
            <a:r>
              <a:rPr lang="en-US" sz="1800">
                <a:solidFill>
                  <a:schemeClr val="dk1"/>
                </a:solidFill>
              </a:rPr>
              <a:t>β * S / N</a:t>
            </a:r>
            <a:r>
              <a:rPr lang="en-US" sz="1800">
                <a:solidFill>
                  <a:schemeClr val="dk1"/>
                </a:solidFill>
              </a:rPr>
              <a:t> </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pic>
        <p:nvPicPr>
          <p:cNvPr id="347" name="Google Shape;347;g3ef70c1339a_0_38"/>
          <p:cNvPicPr preferRelativeResize="0"/>
          <p:nvPr/>
        </p:nvPicPr>
        <p:blipFill rotWithShape="1">
          <a:blip r:embed="rId4">
            <a:alphaModFix/>
          </a:blip>
          <a:srcRect b="0" l="0" r="0" t="0"/>
          <a:stretch/>
        </p:blipFill>
        <p:spPr>
          <a:xfrm>
            <a:off x="9750868" y="1983463"/>
            <a:ext cx="1284490" cy="11733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ef70c1339a_0_54"/>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54" name="Google Shape;354;g3ef70c1339a_0_54"/>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55" name="Google Shape;355;g3ef70c1339a_0_54"/>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Make your own model</a:t>
            </a:r>
            <a:endParaRPr sz="4000">
              <a:solidFill>
                <a:schemeClr val="dk1"/>
              </a:solidFill>
              <a:latin typeface="Arial"/>
              <a:ea typeface="Arial"/>
              <a:cs typeface="Arial"/>
              <a:sym typeface="Arial"/>
            </a:endParaRPr>
          </a:p>
        </p:txBody>
      </p:sp>
      <p:sp>
        <p:nvSpPr>
          <p:cNvPr id="356" name="Google Shape;356;g3ef70c1339a_0_54"/>
          <p:cNvSpPr/>
          <p:nvPr/>
        </p:nvSpPr>
        <p:spPr>
          <a:xfrm>
            <a:off x="304800" y="1524000"/>
            <a:ext cx="11357100" cy="23739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57" name="Google Shape;357;g3ef70c1339a_0_54"/>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358" name="Google Shape;358;g3ef70c1339a_0_54"/>
          <p:cNvPicPr preferRelativeResize="0"/>
          <p:nvPr/>
        </p:nvPicPr>
        <p:blipFill rotWithShape="1">
          <a:blip r:embed="rId3">
            <a:alphaModFix/>
          </a:blip>
          <a:srcRect b="0" l="0" r="0" t="0"/>
          <a:stretch/>
        </p:blipFill>
        <p:spPr>
          <a:xfrm>
            <a:off x="3061382" y="4615763"/>
            <a:ext cx="5843918" cy="1450900"/>
          </a:xfrm>
          <a:prstGeom prst="rect">
            <a:avLst/>
          </a:prstGeom>
          <a:noFill/>
          <a:ln>
            <a:noFill/>
          </a:ln>
        </p:spPr>
      </p:pic>
      <p:sp>
        <p:nvSpPr>
          <p:cNvPr id="359" name="Google Shape;359;g3ef70c1339a_0_54"/>
          <p:cNvSpPr txBox="1"/>
          <p:nvPr/>
        </p:nvSpPr>
        <p:spPr>
          <a:xfrm>
            <a:off x="574050" y="1640875"/>
            <a:ext cx="8687100" cy="18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for dR/dt - </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Recovered people only increase when infected people recover.</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If the recovery rate of infected people are γ, and there are totally I people at that day, γ * I people will change into recovered people per day</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pic>
        <p:nvPicPr>
          <p:cNvPr id="360" name="Google Shape;360;g3ef70c1339a_0_54"/>
          <p:cNvPicPr preferRelativeResize="0"/>
          <p:nvPr/>
        </p:nvPicPr>
        <p:blipFill rotWithShape="1">
          <a:blip r:embed="rId4">
            <a:alphaModFix/>
          </a:blip>
          <a:srcRect b="0" l="0" r="0" t="0"/>
          <a:stretch/>
        </p:blipFill>
        <p:spPr>
          <a:xfrm>
            <a:off x="9750868" y="1983463"/>
            <a:ext cx="1284490" cy="117333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ef70c1339a_0_71"/>
          <p:cNvSpPr/>
          <p:nvPr/>
        </p:nvSpPr>
        <p:spPr>
          <a:xfrm>
            <a:off x="0" y="0"/>
            <a:ext cx="12192000" cy="1280100"/>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67" name="Google Shape;367;g3ef70c1339a_0_71"/>
          <p:cNvSpPr/>
          <p:nvPr/>
        </p:nvSpPr>
        <p:spPr>
          <a:xfrm>
            <a:off x="426720" y="426720"/>
            <a:ext cx="268200" cy="268200"/>
          </a:xfrm>
          <a:prstGeom prst="ellipse">
            <a:avLst/>
          </a:prstGeom>
          <a:solidFill>
            <a:srgbClr val="E59DDC"/>
          </a:solidFill>
          <a:ln cap="flat" cmpd="sng" w="12700">
            <a:solidFill>
              <a:srgbClr val="00D4A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68" name="Google Shape;368;g3ef70c1339a_0_71"/>
          <p:cNvSpPr/>
          <p:nvPr/>
        </p:nvSpPr>
        <p:spPr>
          <a:xfrm>
            <a:off x="853440" y="219456"/>
            <a:ext cx="9753600" cy="7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000">
                <a:solidFill>
                  <a:srgbClr val="FFFFFF"/>
                </a:solidFill>
                <a:latin typeface="Cambria"/>
                <a:ea typeface="Cambria"/>
                <a:cs typeface="Cambria"/>
                <a:sym typeface="Cambria"/>
              </a:rPr>
              <a:t>Make your own model</a:t>
            </a:r>
            <a:endParaRPr sz="4000">
              <a:solidFill>
                <a:schemeClr val="dk1"/>
              </a:solidFill>
              <a:latin typeface="Arial"/>
              <a:ea typeface="Arial"/>
              <a:cs typeface="Arial"/>
              <a:sym typeface="Arial"/>
            </a:endParaRPr>
          </a:p>
        </p:txBody>
      </p:sp>
      <p:sp>
        <p:nvSpPr>
          <p:cNvPr id="369" name="Google Shape;369;g3ef70c1339a_0_71"/>
          <p:cNvSpPr/>
          <p:nvPr/>
        </p:nvSpPr>
        <p:spPr>
          <a:xfrm>
            <a:off x="304800" y="1524000"/>
            <a:ext cx="11357100" cy="2373900"/>
          </a:xfrm>
          <a:prstGeom prst="roundRect">
            <a:avLst>
              <a:gd fmla="val 5128" name="adj"/>
            </a:avLst>
          </a:prstGeom>
          <a:solidFill>
            <a:srgbClr val="F6C5AB"/>
          </a:solidFill>
          <a:ln>
            <a:noFill/>
          </a:ln>
          <a:effectLst>
            <a:outerShdw blurRad="101600" rotWithShape="0" algn="bl" dir="2700000" dist="25400">
              <a:srgbClr val="000000">
                <a:alpha val="25099"/>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F2A982"/>
              </a:solidFill>
              <a:latin typeface="Arial"/>
              <a:ea typeface="Arial"/>
              <a:cs typeface="Arial"/>
              <a:sym typeface="Arial"/>
            </a:endParaRPr>
          </a:p>
        </p:txBody>
      </p:sp>
      <p:sp>
        <p:nvSpPr>
          <p:cNvPr id="370" name="Google Shape;370;g3ef70c1339a_0_71"/>
          <p:cNvSpPr/>
          <p:nvPr/>
        </p:nvSpPr>
        <p:spPr>
          <a:xfrm>
            <a:off x="524256" y="1743456"/>
            <a:ext cx="633900" cy="63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2133">
              <a:solidFill>
                <a:schemeClr val="dk1"/>
              </a:solidFill>
              <a:latin typeface="Arial"/>
              <a:ea typeface="Arial"/>
              <a:cs typeface="Arial"/>
              <a:sym typeface="Arial"/>
            </a:endParaRPr>
          </a:p>
        </p:txBody>
      </p:sp>
      <p:pic>
        <p:nvPicPr>
          <p:cNvPr id="371" name="Google Shape;371;g3ef70c1339a_0_71"/>
          <p:cNvPicPr preferRelativeResize="0"/>
          <p:nvPr/>
        </p:nvPicPr>
        <p:blipFill rotWithShape="1">
          <a:blip r:embed="rId3">
            <a:alphaModFix/>
          </a:blip>
          <a:srcRect b="0" l="0" r="0" t="0"/>
          <a:stretch/>
        </p:blipFill>
        <p:spPr>
          <a:xfrm>
            <a:off x="3061382" y="4615763"/>
            <a:ext cx="5843918" cy="1450900"/>
          </a:xfrm>
          <a:prstGeom prst="rect">
            <a:avLst/>
          </a:prstGeom>
          <a:noFill/>
          <a:ln>
            <a:noFill/>
          </a:ln>
        </p:spPr>
      </p:pic>
      <p:sp>
        <p:nvSpPr>
          <p:cNvPr id="372" name="Google Shape;372;g3ef70c1339a_0_71"/>
          <p:cNvSpPr txBox="1"/>
          <p:nvPr/>
        </p:nvSpPr>
        <p:spPr>
          <a:xfrm>
            <a:off x="574050" y="1640875"/>
            <a:ext cx="8687100" cy="18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for dI/dt - </a:t>
            </a:r>
            <a:endParaRPr sz="1800">
              <a:solidFill>
                <a:schemeClr val="dk1"/>
              </a:solidFill>
            </a:endParaRPr>
          </a:p>
          <a:p>
            <a:pPr indent="0" lvl="0" marL="0" rtl="0" algn="l">
              <a:lnSpc>
                <a:spcPct val="115000"/>
              </a:lnSpc>
              <a:spcBef>
                <a:spcPts val="1200"/>
              </a:spcBef>
              <a:spcAft>
                <a:spcPts val="1200"/>
              </a:spcAft>
              <a:buNone/>
            </a:pPr>
            <a:r>
              <a:rPr lang="en-US" sz="1800">
                <a:solidFill>
                  <a:schemeClr val="dk1"/>
                </a:solidFill>
              </a:rPr>
              <a:t>In previous two slides, we just defined the amount of susceptible people change to infected per day and how many infected people change to recovered per day, the change for infected people will be dI/dt = </a:t>
            </a:r>
            <a:r>
              <a:rPr lang="en-US" sz="1800">
                <a:solidFill>
                  <a:schemeClr val="dk1"/>
                </a:solidFill>
              </a:rPr>
              <a:t>I * β * S / N - γ * I </a:t>
            </a:r>
            <a:endParaRPr sz="1800">
              <a:solidFill>
                <a:schemeClr val="dk1"/>
              </a:solidFill>
            </a:endParaRPr>
          </a:p>
        </p:txBody>
      </p:sp>
      <p:pic>
        <p:nvPicPr>
          <p:cNvPr id="373" name="Google Shape;373;g3ef70c1339a_0_71"/>
          <p:cNvPicPr preferRelativeResize="0"/>
          <p:nvPr/>
        </p:nvPicPr>
        <p:blipFill rotWithShape="1">
          <a:blip r:embed="rId4">
            <a:alphaModFix/>
          </a:blip>
          <a:srcRect b="0" l="0" r="0" t="0"/>
          <a:stretch/>
        </p:blipFill>
        <p:spPr>
          <a:xfrm>
            <a:off x="9750868" y="1983463"/>
            <a:ext cx="1284490" cy="117333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2026-06-16T23:47:37Z</dcterms:created>
  <dc:creator>Wang, Yihan</dc:creator>
</cp:coreProperties>
</file>